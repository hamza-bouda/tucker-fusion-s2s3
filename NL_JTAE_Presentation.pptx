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Introduire le contexte : la fusion hyperspectrale S2/S3, l'objectif de super-résolution, et l'évolution du modèle de v0 à v3.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est mal posé : on veut reconstruire 103 bandes à 10m de résolution à partir de deux sources dégradées. L'approche physique utilise les PSF et SRF comme contraintes.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v0 : Tucker ALS, baseline purement linéaire. v1 : CTAE avec encodeurs séparés. v2 : Encodeur unique conjoint mais décodeur simple. v3 : Architecture UNet avec skip connections et perte SAM. Le bond de v2 à v3 est spectaculaire : +14.7 dB PSNR.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v2 : l'encodeur est un InceptionBlock unique prenant les 34 canaux S2+S3. Le décodeur utilise deux Upsample bilinéaires successifs (×3 puis ×5). Pas de skip connections. Le tenseur cœur G a la forme (B,16,16,8).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innovations sont orthogonales. Les skip connections préservent l'information spatiale. ConvTranspose apprend un upsampling adaptatif. La SAM loss pénalise explicitement les erreurs spectrales. Ensemble elles expliquent le gain de +14.7 dB.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v3 partage la même philosophie que v2 (encodeur conjoint, contraintes physiques) mais améliore le flux d'information spatial dans le décodeur via les skip connections, et le signal d'entraînement via la SAM loss.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métriques sont calculées sur PaviaU (Pavia University dataset), cropé à 240×240 px. La progression v2→v3 est spectaculaire : +14.7 dB PSNR, SAM réduit de 71%, ERGAS réduit de 97%. La SSIM de 0.986 confirme une excellente fidélité structurelle.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version non-supervisée de Andorre ne dispose pas de vérité terrain. On évalue donc via des métriques indirectes : corrélation avec S3 brut (spectrale), variance du Laplacien (netteté spatiale). Les bandes de l'infra-rouge (&gt; 750 nm) sont plus difficiles car le signal S3 OLCI y est nativement plus bruité.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Résumé final : la v3 surpasse massivement la v2 sur toutes les métriques. Les trois innovations (skip connections, ConvTranspose, SAM loss) contribuent ensemble à ce résultat. La prochaine étape naturelle est l'intégration d'un mécanisme d'attention spatiale.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74320" y="365760"/>
            <a:ext cx="36576" cy="36576"/>
          </a:xfrm>
          <a:prstGeom prst="ellipse">
            <a:avLst/>
          </a:prstGeom>
          <a:solidFill>
            <a:srgbClr val="FFFFFF">
              <a:alpha val="40000"/>
            </a:srgbClr>
          </a:solidFill>
          <a:ln w="12700">
            <a:solidFill>
              <a:srgbClr val="FFFFFF">
                <a:alpha val="40000"/>
              </a:srgbClr>
            </a:solidFill>
            <a:prstDash val="solid"/>
          </a:ln>
        </p:spPr>
      </p:sp>
      <p:sp>
        <p:nvSpPr>
          <p:cNvPr id="3" name="Shape 1"/>
          <p:cNvSpPr/>
          <p:nvPr/>
        </p:nvSpPr>
        <p:spPr>
          <a:xfrm>
            <a:off x="1005840" y="1097280"/>
            <a:ext cx="36576" cy="36576"/>
          </a:xfrm>
          <a:prstGeom prst="ellipse">
            <a:avLst/>
          </a:prstGeom>
          <a:solidFill>
            <a:srgbClr val="FFFFFF">
              <a:alpha val="40000"/>
            </a:srgbClr>
          </a:solidFill>
          <a:ln w="12700">
            <a:solidFill>
              <a:srgbClr val="FFFFFF">
                <a:alpha val="40000"/>
              </a:srgbClr>
            </a:solidFill>
            <a:prstDash val="solid"/>
          </a:ln>
        </p:spPr>
      </p:sp>
      <p:sp>
        <p:nvSpPr>
          <p:cNvPr id="4" name="Shape 2"/>
          <p:cNvSpPr/>
          <p:nvPr/>
        </p:nvSpPr>
        <p:spPr>
          <a:xfrm>
            <a:off x="2286000" y="274320"/>
            <a:ext cx="36576" cy="36576"/>
          </a:xfrm>
          <a:prstGeom prst="ellipse">
            <a:avLst/>
          </a:prstGeom>
          <a:solidFill>
            <a:srgbClr val="FFFFFF">
              <a:alpha val="40000"/>
            </a:srgbClr>
          </a:solidFill>
          <a:ln w="12700">
            <a:solidFill>
              <a:srgbClr val="FFFFFF">
                <a:alpha val="40000"/>
              </a:srgbClr>
            </a:solidFill>
            <a:prstDash val="solid"/>
          </a:ln>
        </p:spPr>
      </p:sp>
      <p:sp>
        <p:nvSpPr>
          <p:cNvPr id="5" name="Shape 3"/>
          <p:cNvSpPr/>
          <p:nvPr/>
        </p:nvSpPr>
        <p:spPr>
          <a:xfrm>
            <a:off x="3657600" y="731520"/>
            <a:ext cx="36576" cy="36576"/>
          </a:xfrm>
          <a:prstGeom prst="ellipse">
            <a:avLst/>
          </a:prstGeom>
          <a:solidFill>
            <a:srgbClr val="FFFFFF">
              <a:alpha val="40000"/>
            </a:srgbClr>
          </a:solidFill>
          <a:ln w="12700">
            <a:solidFill>
              <a:srgbClr val="FFFFFF">
                <a:alpha val="40000"/>
              </a:srgbClr>
            </a:solidFill>
            <a:prstDash val="solid"/>
          </a:ln>
        </p:spPr>
      </p:sp>
      <p:sp>
        <p:nvSpPr>
          <p:cNvPr id="6" name="Shape 4"/>
          <p:cNvSpPr/>
          <p:nvPr/>
        </p:nvSpPr>
        <p:spPr>
          <a:xfrm>
            <a:off x="5669280" y="182880"/>
            <a:ext cx="36576" cy="36576"/>
          </a:xfrm>
          <a:prstGeom prst="ellipse">
            <a:avLst/>
          </a:prstGeom>
          <a:solidFill>
            <a:srgbClr val="FFFFFF">
              <a:alpha val="40000"/>
            </a:srgbClr>
          </a:solidFill>
          <a:ln w="12700">
            <a:solidFill>
              <a:srgbClr val="FFFFFF">
                <a:alpha val="40000"/>
              </a:srgbClr>
            </a:solidFill>
            <a:prstDash val="solid"/>
          </a:ln>
        </p:spPr>
      </p:sp>
      <p:sp>
        <p:nvSpPr>
          <p:cNvPr id="7" name="Shape 5"/>
          <p:cNvSpPr/>
          <p:nvPr/>
        </p:nvSpPr>
        <p:spPr>
          <a:xfrm>
            <a:off x="7406640" y="548640"/>
            <a:ext cx="36576" cy="36576"/>
          </a:xfrm>
          <a:prstGeom prst="ellipse">
            <a:avLst/>
          </a:prstGeom>
          <a:solidFill>
            <a:srgbClr val="FFFFFF">
              <a:alpha val="40000"/>
            </a:srgbClr>
          </a:solidFill>
          <a:ln w="12700">
            <a:solidFill>
              <a:srgbClr val="FFFFFF">
                <a:alpha val="40000"/>
              </a:srgbClr>
            </a:solidFill>
            <a:prstDash val="solid"/>
          </a:ln>
        </p:spPr>
      </p:sp>
      <p:sp>
        <p:nvSpPr>
          <p:cNvPr id="8" name="Shape 6"/>
          <p:cNvSpPr/>
          <p:nvPr/>
        </p:nvSpPr>
        <p:spPr>
          <a:xfrm>
            <a:off x="8503920" y="914400"/>
            <a:ext cx="36576" cy="36576"/>
          </a:xfrm>
          <a:prstGeom prst="ellipse">
            <a:avLst/>
          </a:prstGeom>
          <a:solidFill>
            <a:srgbClr val="FFFFFF">
              <a:alpha val="40000"/>
            </a:srgbClr>
          </a:solidFill>
          <a:ln w="12700">
            <a:solidFill>
              <a:srgbClr val="FFFFFF">
                <a:alpha val="40000"/>
              </a:srgbClr>
            </a:solidFill>
            <a:prstDash val="solid"/>
          </a:ln>
        </p:spPr>
      </p:sp>
      <p:sp>
        <p:nvSpPr>
          <p:cNvPr id="9" name="Shape 7"/>
          <p:cNvSpPr/>
          <p:nvPr/>
        </p:nvSpPr>
        <p:spPr>
          <a:xfrm>
            <a:off x="8869680" y="274320"/>
            <a:ext cx="36576" cy="36576"/>
          </a:xfrm>
          <a:prstGeom prst="ellipse">
            <a:avLst/>
          </a:prstGeom>
          <a:solidFill>
            <a:srgbClr val="FFFFFF">
              <a:alpha val="40000"/>
            </a:srgbClr>
          </a:solidFill>
          <a:ln w="12700">
            <a:solidFill>
              <a:srgbClr val="FFFFFF">
                <a:alpha val="40000"/>
              </a:srgbClr>
            </a:solidFill>
            <a:prstDash val="solid"/>
          </a:ln>
        </p:spPr>
      </p:sp>
      <p:sp>
        <p:nvSpPr>
          <p:cNvPr id="10" name="Shape 8"/>
          <p:cNvSpPr/>
          <p:nvPr/>
        </p:nvSpPr>
        <p:spPr>
          <a:xfrm>
            <a:off x="731520" y="4389120"/>
            <a:ext cx="36576" cy="36576"/>
          </a:xfrm>
          <a:prstGeom prst="ellipse">
            <a:avLst/>
          </a:prstGeom>
          <a:solidFill>
            <a:srgbClr val="FFFFFF">
              <a:alpha val="40000"/>
            </a:srgbClr>
          </a:solidFill>
          <a:ln w="12700">
            <a:solidFill>
              <a:srgbClr val="FFFFFF">
                <a:alpha val="40000"/>
              </a:srgbClr>
            </a:solidFill>
            <a:prstDash val="solid"/>
          </a:ln>
        </p:spPr>
      </p:sp>
      <p:sp>
        <p:nvSpPr>
          <p:cNvPr id="11" name="Shape 9"/>
          <p:cNvSpPr/>
          <p:nvPr/>
        </p:nvSpPr>
        <p:spPr>
          <a:xfrm>
            <a:off x="1737360" y="4754880"/>
            <a:ext cx="36576" cy="36576"/>
          </a:xfrm>
          <a:prstGeom prst="ellipse">
            <a:avLst/>
          </a:prstGeom>
          <a:solidFill>
            <a:srgbClr val="FFFFFF">
              <a:alpha val="40000"/>
            </a:srgbClr>
          </a:solidFill>
          <a:ln w="12700">
            <a:solidFill>
              <a:srgbClr val="FFFFFF">
                <a:alpha val="40000"/>
              </a:srgbClr>
            </a:solidFill>
            <a:prstDash val="solid"/>
          </a:ln>
        </p:spPr>
      </p:sp>
      <p:sp>
        <p:nvSpPr>
          <p:cNvPr id="12" name="Shape 10"/>
          <p:cNvSpPr/>
          <p:nvPr/>
        </p:nvSpPr>
        <p:spPr>
          <a:xfrm>
            <a:off x="3017520" y="4572000"/>
            <a:ext cx="36576" cy="36576"/>
          </a:xfrm>
          <a:prstGeom prst="ellipse">
            <a:avLst/>
          </a:prstGeom>
          <a:solidFill>
            <a:srgbClr val="FFFFFF">
              <a:alpha val="40000"/>
            </a:srgbClr>
          </a:solidFill>
          <a:ln w="12700">
            <a:solidFill>
              <a:srgbClr val="FFFFFF">
                <a:alpha val="40000"/>
              </a:srgbClr>
            </a:solidFill>
            <a:prstDash val="solid"/>
          </a:ln>
        </p:spPr>
      </p:sp>
      <p:sp>
        <p:nvSpPr>
          <p:cNvPr id="13" name="Shape 11"/>
          <p:cNvSpPr/>
          <p:nvPr/>
        </p:nvSpPr>
        <p:spPr>
          <a:xfrm>
            <a:off x="4663440" y="4937760"/>
            <a:ext cx="36576" cy="36576"/>
          </a:xfrm>
          <a:prstGeom prst="ellipse">
            <a:avLst/>
          </a:prstGeom>
          <a:solidFill>
            <a:srgbClr val="FFFFFF">
              <a:alpha val="40000"/>
            </a:srgbClr>
          </a:solidFill>
          <a:ln w="12700">
            <a:solidFill>
              <a:srgbClr val="FFFFFF">
                <a:alpha val="40000"/>
              </a:srgbClr>
            </a:solidFill>
            <a:prstDash val="solid"/>
          </a:ln>
        </p:spPr>
      </p:sp>
      <p:sp>
        <p:nvSpPr>
          <p:cNvPr id="14" name="Shape 12"/>
          <p:cNvSpPr/>
          <p:nvPr/>
        </p:nvSpPr>
        <p:spPr>
          <a:xfrm>
            <a:off x="6766560" y="4663440"/>
            <a:ext cx="36576" cy="36576"/>
          </a:xfrm>
          <a:prstGeom prst="ellipse">
            <a:avLst/>
          </a:prstGeom>
          <a:solidFill>
            <a:srgbClr val="FFFFFF">
              <a:alpha val="40000"/>
            </a:srgbClr>
          </a:solidFill>
          <a:ln w="12700">
            <a:solidFill>
              <a:srgbClr val="FFFFFF">
                <a:alpha val="40000"/>
              </a:srgbClr>
            </a:solidFill>
            <a:prstDash val="solid"/>
          </a:ln>
        </p:spPr>
      </p:sp>
      <p:sp>
        <p:nvSpPr>
          <p:cNvPr id="15" name="Shape 13"/>
          <p:cNvSpPr/>
          <p:nvPr/>
        </p:nvSpPr>
        <p:spPr>
          <a:xfrm>
            <a:off x="8138160" y="4480560"/>
            <a:ext cx="36576" cy="36576"/>
          </a:xfrm>
          <a:prstGeom prst="ellipse">
            <a:avLst/>
          </a:prstGeom>
          <a:solidFill>
            <a:srgbClr val="FFFFFF">
              <a:alpha val="40000"/>
            </a:srgbClr>
          </a:solidFill>
          <a:ln w="12700">
            <a:solidFill>
              <a:srgbClr val="FFFFFF">
                <a:alpha val="40000"/>
              </a:srgbClr>
            </a:solidFill>
            <a:prstDash val="solid"/>
          </a:ln>
        </p:spPr>
      </p:sp>
      <p:sp>
        <p:nvSpPr>
          <p:cNvPr id="16" name="Shape 14"/>
          <p:cNvSpPr/>
          <p:nvPr/>
        </p:nvSpPr>
        <p:spPr>
          <a:xfrm>
            <a:off x="8778240" y="4846320"/>
            <a:ext cx="36576" cy="36576"/>
          </a:xfrm>
          <a:prstGeom prst="ellipse">
            <a:avLst/>
          </a:prstGeom>
          <a:solidFill>
            <a:srgbClr val="FFFFFF">
              <a:alpha val="40000"/>
            </a:srgbClr>
          </a:solidFill>
          <a:ln w="12700">
            <a:solidFill>
              <a:srgbClr val="FFFFFF">
                <a:alpha val="40000"/>
              </a:srgbClr>
            </a:solidFill>
            <a:prstDash val="solid"/>
          </a:ln>
        </p:spPr>
      </p:sp>
      <p:sp>
        <p:nvSpPr>
          <p:cNvPr id="17" name="Text 15"/>
          <p:cNvSpPr/>
          <p:nvPr/>
        </p:nvSpPr>
        <p:spPr>
          <a:xfrm>
            <a:off x="548640" y="914400"/>
            <a:ext cx="8046720" cy="77724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Fusion Hyperspectrale</a:t>
            </a:r>
            <a:endParaRPr lang="en-US" sz="4200" dirty="0"/>
          </a:p>
        </p:txBody>
      </p:sp>
      <p:sp>
        <p:nvSpPr>
          <p:cNvPr id="18" name="Text 16"/>
          <p:cNvSpPr/>
          <p:nvPr/>
        </p:nvSpPr>
        <p:spPr>
          <a:xfrm>
            <a:off x="548640" y="1691640"/>
            <a:ext cx="8046720" cy="685800"/>
          </a:xfrm>
          <a:prstGeom prst="rect">
            <a:avLst/>
          </a:prstGeom>
          <a:noFill/>
          <a:ln/>
        </p:spPr>
        <p:txBody>
          <a:bodyPr wrap="square" rtlCol="0" anchor="ctr"/>
          <a:lstStyle/>
          <a:p>
            <a:pPr algn="ctr" indent="0" marL="0">
              <a:buNone/>
            </a:pPr>
            <a:r>
              <a:rPr lang="en-US" sz="3800" b="1" dirty="0">
                <a:solidFill>
                  <a:srgbClr val="00C2CB"/>
                </a:solidFill>
                <a:latin typeface="Cambria" pitchFamily="34" charset="0"/>
                <a:ea typeface="Cambria" pitchFamily="34" charset="-122"/>
                <a:cs typeface="Cambria" pitchFamily="34" charset="-120"/>
              </a:rPr>
              <a:t>Sentinel-2 / Sentinel-3</a:t>
            </a:r>
            <a:endParaRPr lang="en-US" sz="3800" dirty="0"/>
          </a:p>
        </p:txBody>
      </p:sp>
      <p:sp>
        <p:nvSpPr>
          <p:cNvPr id="19" name="Text 17"/>
          <p:cNvSpPr/>
          <p:nvPr/>
        </p:nvSpPr>
        <p:spPr>
          <a:xfrm>
            <a:off x="731520" y="2606040"/>
            <a:ext cx="7680960" cy="457200"/>
          </a:xfrm>
          <a:prstGeom prst="rect">
            <a:avLst/>
          </a:prstGeom>
          <a:noFill/>
          <a:ln/>
        </p:spPr>
        <p:txBody>
          <a:bodyPr wrap="square" rtlCol="0" anchor="ctr"/>
          <a:lstStyle/>
          <a:p>
            <a:pPr algn="ctr" indent="0" marL="0">
              <a:buNone/>
            </a:pPr>
            <a:r>
              <a:rPr lang="en-US" sz="1400" i="1" dirty="0">
                <a:solidFill>
                  <a:srgbClr val="8BACC8"/>
                </a:solidFill>
                <a:latin typeface="Calibri" pitchFamily="34" charset="0"/>
                <a:ea typeface="Calibri" pitchFamily="34" charset="-122"/>
                <a:cs typeface="Calibri" pitchFamily="34" charset="-120"/>
              </a:rPr>
              <a:t>Architecture NL-JTAE v3 : Skip Connections, ConvTranspose &amp; SAM Loss</a:t>
            </a:r>
            <a:endParaRPr lang="en-US" sz="1400" dirty="0"/>
          </a:p>
        </p:txBody>
      </p:sp>
      <p:sp>
        <p:nvSpPr>
          <p:cNvPr id="20" name="Shape 18"/>
          <p:cNvSpPr/>
          <p:nvPr/>
        </p:nvSpPr>
        <p:spPr>
          <a:xfrm>
            <a:off x="3200400" y="3200400"/>
            <a:ext cx="2743200" cy="27432"/>
          </a:xfrm>
          <a:prstGeom prst="rect">
            <a:avLst/>
          </a:prstGeom>
          <a:solidFill>
            <a:srgbClr val="00C2CB"/>
          </a:solidFill>
          <a:ln/>
        </p:spPr>
      </p:sp>
      <p:sp>
        <p:nvSpPr>
          <p:cNvPr id="21" name="Shape 19"/>
          <p:cNvSpPr/>
          <p:nvPr/>
        </p:nvSpPr>
        <p:spPr>
          <a:xfrm>
            <a:off x="1920240" y="3429000"/>
            <a:ext cx="1554480" cy="347472"/>
          </a:xfrm>
          <a:prstGeom prst="roundRect">
            <a:avLst>
              <a:gd name="adj" fmla="val 21053"/>
            </a:avLst>
          </a:prstGeom>
          <a:solidFill>
            <a:srgbClr val="065A82">
              <a:alpha val="70000"/>
            </a:srgbClr>
          </a:solidFill>
          <a:ln/>
        </p:spPr>
      </p:sp>
      <p:sp>
        <p:nvSpPr>
          <p:cNvPr id="22" name="Text 20"/>
          <p:cNvSpPr/>
          <p:nvPr/>
        </p:nvSpPr>
        <p:spPr>
          <a:xfrm>
            <a:off x="1920240" y="3429000"/>
            <a:ext cx="1554480" cy="347472"/>
          </a:xfrm>
          <a:prstGeom prst="rect">
            <a:avLst/>
          </a:prstGeom>
          <a:noFill/>
          <a:ln/>
        </p:spPr>
        <p:txBody>
          <a:bodyPr wrap="square" lIns="0" tIns="0" rIns="0" bIns="0" rtlCol="0" anchor="ctr"/>
          <a:lstStyle/>
          <a:p>
            <a:pPr algn="ctr" indent="0" marL="0">
              <a:buNone/>
            </a:pPr>
            <a:r>
              <a:rPr lang="en-US" sz="1100" b="1" dirty="0">
                <a:solidFill>
                  <a:srgbClr val="00C2CB"/>
                </a:solidFill>
              </a:rPr>
              <a:t>v2 NL-JTAE</a:t>
            </a:r>
            <a:endParaRPr lang="en-US" sz="1100" dirty="0"/>
          </a:p>
        </p:txBody>
      </p:sp>
      <p:sp>
        <p:nvSpPr>
          <p:cNvPr id="23" name="Text 21"/>
          <p:cNvSpPr/>
          <p:nvPr/>
        </p:nvSpPr>
        <p:spPr>
          <a:xfrm>
            <a:off x="3794760" y="3429000"/>
            <a:ext cx="548640" cy="365760"/>
          </a:xfrm>
          <a:prstGeom prst="rect">
            <a:avLst/>
          </a:prstGeom>
          <a:noFill/>
          <a:ln/>
        </p:spPr>
        <p:txBody>
          <a:bodyPr wrap="square" rtlCol="0" anchor="ctr"/>
          <a:lstStyle/>
          <a:p>
            <a:pPr algn="ctr" indent="0" marL="0">
              <a:buNone/>
            </a:pPr>
            <a:r>
              <a:rPr lang="en-US" sz="1800" dirty="0">
                <a:solidFill>
                  <a:srgbClr val="8BACC8"/>
                </a:solidFill>
              </a:rPr>
              <a:t>→</a:t>
            </a:r>
            <a:endParaRPr lang="en-US" sz="1800" dirty="0"/>
          </a:p>
        </p:txBody>
      </p:sp>
      <p:sp>
        <p:nvSpPr>
          <p:cNvPr id="24" name="Shape 22"/>
          <p:cNvSpPr/>
          <p:nvPr/>
        </p:nvSpPr>
        <p:spPr>
          <a:xfrm>
            <a:off x="4663440" y="3429000"/>
            <a:ext cx="1554480" cy="347472"/>
          </a:xfrm>
          <a:prstGeom prst="roundRect">
            <a:avLst>
              <a:gd name="adj" fmla="val 21053"/>
            </a:avLst>
          </a:prstGeom>
          <a:solidFill>
            <a:srgbClr val="065A82">
              <a:alpha val="70000"/>
            </a:srgbClr>
          </a:solidFill>
          <a:ln/>
        </p:spPr>
      </p:sp>
      <p:sp>
        <p:nvSpPr>
          <p:cNvPr id="25" name="Text 23"/>
          <p:cNvSpPr/>
          <p:nvPr/>
        </p:nvSpPr>
        <p:spPr>
          <a:xfrm>
            <a:off x="4663440" y="3429000"/>
            <a:ext cx="1554480" cy="347472"/>
          </a:xfrm>
          <a:prstGeom prst="rect">
            <a:avLst/>
          </a:prstGeom>
          <a:noFill/>
          <a:ln/>
        </p:spPr>
        <p:txBody>
          <a:bodyPr wrap="square" lIns="0" tIns="0" rIns="0" bIns="0" rtlCol="0" anchor="ctr"/>
          <a:lstStyle/>
          <a:p>
            <a:pPr algn="ctr" indent="0" marL="0">
              <a:buNone/>
            </a:pPr>
            <a:r>
              <a:rPr lang="en-US" sz="1100" b="1" dirty="0">
                <a:solidFill>
                  <a:srgbClr val="00C2CB"/>
                </a:solidFill>
              </a:rPr>
              <a:t>v3 NL-JTAE</a:t>
            </a:r>
            <a:endParaRPr lang="en-US" sz="1100" dirty="0"/>
          </a:p>
        </p:txBody>
      </p:sp>
      <p:sp>
        <p:nvSpPr>
          <p:cNvPr id="26" name="Text 24"/>
          <p:cNvSpPr/>
          <p:nvPr/>
        </p:nvSpPr>
        <p:spPr>
          <a:xfrm>
            <a:off x="548640" y="4526280"/>
            <a:ext cx="8046720" cy="274320"/>
          </a:xfrm>
          <a:prstGeom prst="rect">
            <a:avLst/>
          </a:prstGeom>
          <a:noFill/>
          <a:ln/>
        </p:spPr>
        <p:txBody>
          <a:bodyPr wrap="square" rtlCol="0" anchor="ctr"/>
          <a:lstStyle/>
          <a:p>
            <a:pPr algn="ctr" indent="0" marL="0">
              <a:buNone/>
            </a:pPr>
            <a:r>
              <a:rPr lang="en-US" sz="1100" dirty="0">
                <a:solidFill>
                  <a:srgbClr val="8BACC8"/>
                </a:solidFill>
              </a:rPr>
              <a:t>7 Juillet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Text 0"/>
          <p:cNvSpPr/>
          <p:nvPr/>
        </p:nvSpPr>
        <p:spPr>
          <a:xfrm>
            <a:off x="457200" y="256032"/>
            <a:ext cx="8229600" cy="502920"/>
          </a:xfrm>
          <a:prstGeom prst="rect">
            <a:avLst/>
          </a:prstGeom>
          <a:noFill/>
          <a:ln/>
        </p:spPr>
        <p:txBody>
          <a:bodyPr wrap="square" rtlCol="0" anchor="ctr"/>
          <a:lstStyle/>
          <a:p>
            <a:pPr indent="0" marL="0">
              <a:buNone/>
            </a:pPr>
            <a:r>
              <a:rPr lang="en-US" sz="2800" b="1" dirty="0">
                <a:solidFill>
                  <a:srgbClr val="0A1628"/>
                </a:solidFill>
                <a:latin typeface="Cambria" pitchFamily="34" charset="0"/>
                <a:ea typeface="Cambria" pitchFamily="34" charset="-122"/>
                <a:cs typeface="Cambria" pitchFamily="34" charset="-120"/>
              </a:rPr>
              <a:t>Le Défi de la Fusion Hyperspectrale</a:t>
            </a:r>
            <a:endParaRPr lang="en-US" sz="2800" dirty="0"/>
          </a:p>
        </p:txBody>
      </p:sp>
      <p:sp>
        <p:nvSpPr>
          <p:cNvPr id="3" name="Shape 1"/>
          <p:cNvSpPr/>
          <p:nvPr/>
        </p:nvSpPr>
        <p:spPr>
          <a:xfrm>
            <a:off x="365760" y="960120"/>
            <a:ext cx="2560320" cy="3017520"/>
          </a:xfrm>
          <a:prstGeom prst="roundRect">
            <a:avLst>
              <a:gd name="adj" fmla="val 4286"/>
            </a:avLst>
          </a:prstGeom>
          <a:solidFill>
            <a:srgbClr val="EBF8FF"/>
          </a:solidFill>
          <a:ln/>
          <a:effectLst>
            <a:outerShdw sx="100000" sy="100000" kx="0" ky="0" algn="bl" rotWithShape="0" blurRad="101600" dist="25400" dir="2700000">
              <a:srgbClr val="000000">
                <a:alpha val="10000"/>
              </a:srgbClr>
            </a:outerShdw>
          </a:effectLst>
        </p:spPr>
      </p:sp>
      <p:sp>
        <p:nvSpPr>
          <p:cNvPr id="4" name="Text 2"/>
          <p:cNvSpPr/>
          <p:nvPr/>
        </p:nvSpPr>
        <p:spPr>
          <a:xfrm>
            <a:off x="365760" y="1005840"/>
            <a:ext cx="2560320" cy="384048"/>
          </a:xfrm>
          <a:prstGeom prst="rect">
            <a:avLst/>
          </a:prstGeom>
          <a:noFill/>
          <a:ln/>
        </p:spPr>
        <p:txBody>
          <a:bodyPr wrap="square" rtlCol="0" anchor="ctr"/>
          <a:lstStyle/>
          <a:p>
            <a:pPr algn="ctr" indent="0" marL="0">
              <a:buNone/>
            </a:pPr>
            <a:r>
              <a:rPr lang="en-US" sz="1300" b="1" dirty="0">
                <a:solidFill>
                  <a:srgbClr val="065A82"/>
                </a:solidFill>
              </a:rPr>
              <a:t>SENTINEL-2</a:t>
            </a:r>
            <a:endParaRPr lang="en-US" sz="1300" dirty="0"/>
          </a:p>
        </p:txBody>
      </p:sp>
      <p:sp>
        <p:nvSpPr>
          <p:cNvPr id="5" name="Text 3"/>
          <p:cNvSpPr/>
          <p:nvPr/>
        </p:nvSpPr>
        <p:spPr>
          <a:xfrm>
            <a:off x="365760" y="1463040"/>
            <a:ext cx="2560320" cy="502920"/>
          </a:xfrm>
          <a:prstGeom prst="rect">
            <a:avLst/>
          </a:prstGeom>
          <a:noFill/>
          <a:ln/>
        </p:spPr>
        <p:txBody>
          <a:bodyPr wrap="square" rtlCol="0" anchor="ctr"/>
          <a:lstStyle/>
          <a:p>
            <a:pPr algn="ctr" indent="0" marL="0">
              <a:buNone/>
            </a:pPr>
            <a:r>
              <a:rPr lang="en-US" sz="1200" b="1" dirty="0">
                <a:solidFill>
                  <a:srgbClr val="0A1628"/>
                </a:solidFill>
              </a:rPr>
              <a:t>Haute Résolution</a:t>
            </a:r>
            <a:endParaRPr lang="en-US" sz="1200" dirty="0"/>
          </a:p>
          <a:p>
            <a:pPr algn="ctr" indent="0" marL="0">
              <a:buNone/>
            </a:pPr>
            <a:r>
              <a:rPr lang="en-US" sz="1200" b="1" dirty="0">
                <a:solidFill>
                  <a:srgbClr val="0A1628"/>
                </a:solidFill>
              </a:rPr>
              <a:t>Spatiale</a:t>
            </a:r>
            <a:endParaRPr lang="en-US" sz="1200" dirty="0"/>
          </a:p>
        </p:txBody>
      </p:sp>
      <p:sp>
        <p:nvSpPr>
          <p:cNvPr id="6" name="Text 4"/>
          <p:cNvSpPr/>
          <p:nvPr/>
        </p:nvSpPr>
        <p:spPr>
          <a:xfrm>
            <a:off x="548640" y="2057400"/>
            <a:ext cx="2194560" cy="1554480"/>
          </a:xfrm>
          <a:prstGeom prst="rect">
            <a:avLst/>
          </a:prstGeom>
          <a:noFill/>
          <a:ln/>
        </p:spPr>
        <p:txBody>
          <a:bodyPr wrap="square" rtlCol="0" anchor="ctr"/>
          <a:lstStyle/>
          <a:p>
            <a:pPr indent="0" marL="0">
              <a:buNone/>
            </a:pPr>
            <a:r>
              <a:rPr lang="en-US" sz="1100" dirty="0">
                <a:solidFill>
                  <a:srgbClr val="64748B"/>
                </a:solidFill>
              </a:rPr>
              <a:t>• 13 bandes spectrales
</a:t>
            </a:r>
            <a:pPr indent="0" marL="0">
              <a:buNone/>
            </a:pPr>
            <a:r>
              <a:rPr lang="en-US" sz="1100" dirty="0">
                <a:solidFill>
                  <a:srgbClr val="64748B"/>
                </a:solidFill>
              </a:rPr>
              <a:t>• Résolution : 10 m
</a:t>
            </a:r>
            <a:pPr indent="0" marL="0">
              <a:buNone/>
            </a:pPr>
            <a:r>
              <a:rPr lang="en-US" sz="1100" dirty="0">
                <a:solidFill>
                  <a:srgbClr val="64748B"/>
                </a:solidFill>
              </a:rPr>
              <a:t>• Spectre : 443–2190 nm
</a:t>
            </a:r>
            <a:pPr indent="0" marL="0">
              <a:buNone/>
            </a:pPr>
            <a:r>
              <a:rPr lang="en-US" sz="1100" dirty="0">
                <a:solidFill>
                  <a:srgbClr val="64748B"/>
                </a:solidFill>
              </a:rPr>
              <a:t>• Couverture : 290 km</a:t>
            </a:r>
            <a:endParaRPr lang="en-US" sz="1100" dirty="0"/>
          </a:p>
        </p:txBody>
      </p:sp>
      <p:sp>
        <p:nvSpPr>
          <p:cNvPr id="7" name="Shape 5"/>
          <p:cNvSpPr/>
          <p:nvPr/>
        </p:nvSpPr>
        <p:spPr>
          <a:xfrm>
            <a:off x="3291840" y="960120"/>
            <a:ext cx="2560320" cy="3017520"/>
          </a:xfrm>
          <a:prstGeom prst="roundRect">
            <a:avLst>
              <a:gd name="adj" fmla="val 4286"/>
            </a:avLst>
          </a:prstGeom>
          <a:solidFill>
            <a:srgbClr val="FFF7ED"/>
          </a:solidFill>
          <a:ln/>
          <a:effectLst>
            <a:outerShdw sx="100000" sy="100000" kx="0" ky="0" algn="bl" rotWithShape="0" blurRad="101600" dist="25400" dir="2700000">
              <a:srgbClr val="000000">
                <a:alpha val="10000"/>
              </a:srgbClr>
            </a:outerShdw>
          </a:effectLst>
        </p:spPr>
      </p:sp>
      <p:sp>
        <p:nvSpPr>
          <p:cNvPr id="8" name="Text 6"/>
          <p:cNvSpPr/>
          <p:nvPr/>
        </p:nvSpPr>
        <p:spPr>
          <a:xfrm>
            <a:off x="3291840" y="1005840"/>
            <a:ext cx="2560320" cy="384048"/>
          </a:xfrm>
          <a:prstGeom prst="rect">
            <a:avLst/>
          </a:prstGeom>
          <a:noFill/>
          <a:ln/>
        </p:spPr>
        <p:txBody>
          <a:bodyPr wrap="square" rtlCol="0" anchor="ctr"/>
          <a:lstStyle/>
          <a:p>
            <a:pPr algn="ctr" indent="0" marL="0">
              <a:buNone/>
            </a:pPr>
            <a:r>
              <a:rPr lang="en-US" sz="1300" b="1" dirty="0">
                <a:solidFill>
                  <a:srgbClr val="B45309"/>
                </a:solidFill>
              </a:rPr>
              <a:t>SENTINEL-3</a:t>
            </a:r>
            <a:endParaRPr lang="en-US" sz="1300" dirty="0"/>
          </a:p>
        </p:txBody>
      </p:sp>
      <p:sp>
        <p:nvSpPr>
          <p:cNvPr id="9" name="Text 7"/>
          <p:cNvSpPr/>
          <p:nvPr/>
        </p:nvSpPr>
        <p:spPr>
          <a:xfrm>
            <a:off x="3291840" y="1463040"/>
            <a:ext cx="2560320" cy="502920"/>
          </a:xfrm>
          <a:prstGeom prst="rect">
            <a:avLst/>
          </a:prstGeom>
          <a:noFill/>
          <a:ln/>
        </p:spPr>
        <p:txBody>
          <a:bodyPr wrap="square" rtlCol="0" anchor="ctr"/>
          <a:lstStyle/>
          <a:p>
            <a:pPr algn="ctr" indent="0" marL="0">
              <a:buNone/>
            </a:pPr>
            <a:r>
              <a:rPr lang="en-US" sz="1200" b="1" dirty="0">
                <a:solidFill>
                  <a:srgbClr val="0A1628"/>
                </a:solidFill>
              </a:rPr>
              <a:t>Haute Résolution</a:t>
            </a:r>
            <a:endParaRPr lang="en-US" sz="1200" dirty="0"/>
          </a:p>
          <a:p>
            <a:pPr algn="ctr" indent="0" marL="0">
              <a:buNone/>
            </a:pPr>
            <a:r>
              <a:rPr lang="en-US" sz="1200" b="1" dirty="0">
                <a:solidFill>
                  <a:srgbClr val="0A1628"/>
                </a:solidFill>
              </a:rPr>
              <a:t>Spectrale</a:t>
            </a:r>
            <a:endParaRPr lang="en-US" sz="1200" dirty="0"/>
          </a:p>
        </p:txBody>
      </p:sp>
      <p:sp>
        <p:nvSpPr>
          <p:cNvPr id="10" name="Text 8"/>
          <p:cNvSpPr/>
          <p:nvPr/>
        </p:nvSpPr>
        <p:spPr>
          <a:xfrm>
            <a:off x="3474720" y="2057400"/>
            <a:ext cx="2194560" cy="1554480"/>
          </a:xfrm>
          <a:prstGeom prst="rect">
            <a:avLst/>
          </a:prstGeom>
          <a:noFill/>
          <a:ln/>
        </p:spPr>
        <p:txBody>
          <a:bodyPr wrap="square" rtlCol="0" anchor="ctr"/>
          <a:lstStyle/>
          <a:p>
            <a:pPr indent="0" marL="0">
              <a:buNone/>
            </a:pPr>
            <a:r>
              <a:rPr lang="en-US" sz="1100" dirty="0">
                <a:solidFill>
                  <a:srgbClr val="64748B"/>
                </a:solidFill>
              </a:rPr>
              <a:t>• 21 bandes OLCI
</a:t>
            </a:r>
            <a:pPr indent="0" marL="0">
              <a:buNone/>
            </a:pPr>
            <a:r>
              <a:rPr lang="en-US" sz="1100" dirty="0">
                <a:solidFill>
                  <a:srgbClr val="64748B"/>
                </a:solidFill>
              </a:rPr>
              <a:t>• Résolution : 300 m
</a:t>
            </a:r>
            <a:pPr indent="0" marL="0">
              <a:buNone/>
            </a:pPr>
            <a:r>
              <a:rPr lang="en-US" sz="1100" dirty="0">
                <a:solidFill>
                  <a:srgbClr val="64748B"/>
                </a:solidFill>
              </a:rPr>
              <a:t>• Spectre : 400–1020 nm
</a:t>
            </a:r>
            <a:pPr indent="0" marL="0">
              <a:buNone/>
            </a:pPr>
            <a:r>
              <a:rPr lang="en-US" sz="1100" dirty="0">
                <a:solidFill>
                  <a:srgbClr val="64748B"/>
                </a:solidFill>
              </a:rPr>
              <a:t>• Données océan/terre</a:t>
            </a:r>
            <a:endParaRPr lang="en-US" sz="1100" dirty="0"/>
          </a:p>
        </p:txBody>
      </p:sp>
      <p:sp>
        <p:nvSpPr>
          <p:cNvPr id="11" name="Text 9"/>
          <p:cNvSpPr/>
          <p:nvPr/>
        </p:nvSpPr>
        <p:spPr>
          <a:xfrm>
            <a:off x="2880360" y="2103120"/>
            <a:ext cx="457200" cy="457200"/>
          </a:xfrm>
          <a:prstGeom prst="rect">
            <a:avLst/>
          </a:prstGeom>
          <a:noFill/>
          <a:ln/>
        </p:spPr>
        <p:txBody>
          <a:bodyPr wrap="square" rtlCol="0" anchor="ctr"/>
          <a:lstStyle/>
          <a:p>
            <a:pPr algn="ctr" indent="0" marL="0">
              <a:buNone/>
            </a:pPr>
            <a:r>
              <a:rPr lang="en-US" sz="3000" b="1" dirty="0">
                <a:solidFill>
                  <a:srgbClr val="00C2CB"/>
                </a:solidFill>
              </a:rPr>
              <a:t>+</a:t>
            </a:r>
            <a:endParaRPr lang="en-US" sz="3000" dirty="0"/>
          </a:p>
        </p:txBody>
      </p:sp>
      <p:sp>
        <p:nvSpPr>
          <p:cNvPr id="12" name="Shape 10"/>
          <p:cNvSpPr/>
          <p:nvPr/>
        </p:nvSpPr>
        <p:spPr>
          <a:xfrm>
            <a:off x="6217920" y="960120"/>
            <a:ext cx="2560320" cy="3017520"/>
          </a:xfrm>
          <a:prstGeom prst="roundRect">
            <a:avLst>
              <a:gd name="adj" fmla="val 4286"/>
            </a:avLst>
          </a:prstGeom>
          <a:solidFill>
            <a:srgbClr val="0D2137"/>
          </a:solidFill>
          <a:ln/>
          <a:effectLst>
            <a:outerShdw sx="100000" sy="100000" kx="0" ky="0" algn="bl" rotWithShape="0" blurRad="101600" dist="25400" dir="2700000">
              <a:srgbClr val="000000">
                <a:alpha val="15000"/>
              </a:srgbClr>
            </a:outerShdw>
          </a:effectLst>
        </p:spPr>
      </p:sp>
      <p:sp>
        <p:nvSpPr>
          <p:cNvPr id="13" name="Text 11"/>
          <p:cNvSpPr/>
          <p:nvPr/>
        </p:nvSpPr>
        <p:spPr>
          <a:xfrm>
            <a:off x="6217920" y="1005840"/>
            <a:ext cx="2560320" cy="384048"/>
          </a:xfrm>
          <a:prstGeom prst="rect">
            <a:avLst/>
          </a:prstGeom>
          <a:noFill/>
          <a:ln/>
        </p:spPr>
        <p:txBody>
          <a:bodyPr wrap="square" rtlCol="0" anchor="ctr"/>
          <a:lstStyle/>
          <a:p>
            <a:pPr algn="ctr" indent="0" marL="0">
              <a:buNone/>
            </a:pPr>
            <a:r>
              <a:rPr lang="en-US" sz="1300" b="1" dirty="0">
                <a:solidFill>
                  <a:srgbClr val="00C2CB"/>
                </a:solidFill>
              </a:rPr>
              <a:t>OBJECTIF</a:t>
            </a:r>
            <a:endParaRPr lang="en-US" sz="1300" dirty="0"/>
          </a:p>
        </p:txBody>
      </p:sp>
      <p:sp>
        <p:nvSpPr>
          <p:cNvPr id="14" name="Text 12"/>
          <p:cNvSpPr/>
          <p:nvPr/>
        </p:nvSpPr>
        <p:spPr>
          <a:xfrm>
            <a:off x="6217920" y="1463040"/>
            <a:ext cx="2560320" cy="384048"/>
          </a:xfrm>
          <a:prstGeom prst="rect">
            <a:avLst/>
          </a:prstGeom>
          <a:noFill/>
          <a:ln/>
        </p:spPr>
        <p:txBody>
          <a:bodyPr wrap="square" rtlCol="0" anchor="ctr"/>
          <a:lstStyle/>
          <a:p>
            <a:pPr algn="ctr" indent="0" marL="0">
              <a:buNone/>
            </a:pPr>
            <a:r>
              <a:rPr lang="en-US" sz="1200" b="1" dirty="0">
                <a:solidFill>
                  <a:srgbClr val="FFFFFF"/>
                </a:solidFill>
              </a:rPr>
              <a:t>HSI Super-Résolu</a:t>
            </a:r>
            <a:endParaRPr lang="en-US" sz="1200" dirty="0"/>
          </a:p>
        </p:txBody>
      </p:sp>
      <p:sp>
        <p:nvSpPr>
          <p:cNvPr id="15" name="Text 13"/>
          <p:cNvSpPr/>
          <p:nvPr/>
        </p:nvSpPr>
        <p:spPr>
          <a:xfrm>
            <a:off x="6400800" y="2057400"/>
            <a:ext cx="2194560" cy="1554480"/>
          </a:xfrm>
          <a:prstGeom prst="rect">
            <a:avLst/>
          </a:prstGeom>
          <a:noFill/>
          <a:ln/>
        </p:spPr>
        <p:txBody>
          <a:bodyPr wrap="square" rtlCol="0" anchor="ctr"/>
          <a:lstStyle/>
          <a:p>
            <a:pPr indent="0" marL="0">
              <a:buNone/>
            </a:pPr>
            <a:r>
              <a:rPr lang="en-US" sz="1100" dirty="0">
                <a:solidFill>
                  <a:srgbClr val="E8F4FD"/>
                </a:solidFill>
              </a:rPr>
              <a:t>• Résolution 10 m
</a:t>
            </a:r>
            <a:pPr indent="0" marL="0">
              <a:buNone/>
            </a:pPr>
            <a:r>
              <a:rPr lang="en-US" sz="1100" dirty="0">
                <a:solidFill>
                  <a:srgbClr val="E8F4FD"/>
                </a:solidFill>
              </a:rPr>
              <a:t>• 103 bandes spectrales
</a:t>
            </a:r>
            <a:pPr indent="0" marL="0">
              <a:buNone/>
            </a:pPr>
            <a:r>
              <a:rPr lang="en-US" sz="1100" dirty="0">
                <a:solidFill>
                  <a:srgbClr val="E8F4FD"/>
                </a:solidFill>
              </a:rPr>
              <a:t>• Couverture complète
</a:t>
            </a:r>
            <a:pPr indent="0" marL="0">
              <a:buNone/>
            </a:pPr>
            <a:r>
              <a:rPr lang="en-US" sz="1100" dirty="0">
                <a:solidFill>
                  <a:srgbClr val="E8F4FD"/>
                </a:solidFill>
              </a:rPr>
              <a:t>• Facteur ×30 spatial</a:t>
            </a:r>
            <a:endParaRPr lang="en-US" sz="1100" dirty="0"/>
          </a:p>
        </p:txBody>
      </p:sp>
      <p:sp>
        <p:nvSpPr>
          <p:cNvPr id="16" name="Text 14"/>
          <p:cNvSpPr/>
          <p:nvPr/>
        </p:nvSpPr>
        <p:spPr>
          <a:xfrm>
            <a:off x="5806440" y="2103120"/>
            <a:ext cx="457200" cy="457200"/>
          </a:xfrm>
          <a:prstGeom prst="rect">
            <a:avLst/>
          </a:prstGeom>
          <a:noFill/>
          <a:ln/>
        </p:spPr>
        <p:txBody>
          <a:bodyPr wrap="square" rtlCol="0" anchor="ctr"/>
          <a:lstStyle/>
          <a:p>
            <a:pPr algn="ctr" indent="0" marL="0">
              <a:buNone/>
            </a:pPr>
            <a:r>
              <a:rPr lang="en-US" sz="2800" b="1" dirty="0">
                <a:solidFill>
                  <a:srgbClr val="00C2CB"/>
                </a:solidFill>
              </a:rPr>
              <a:t>→</a:t>
            </a:r>
            <a:endParaRPr lang="en-US" sz="2800" dirty="0"/>
          </a:p>
        </p:txBody>
      </p:sp>
      <p:sp>
        <p:nvSpPr>
          <p:cNvPr id="17" name="Text 15"/>
          <p:cNvSpPr/>
          <p:nvPr/>
        </p:nvSpPr>
        <p:spPr>
          <a:xfrm>
            <a:off x="365760" y="4160520"/>
            <a:ext cx="8412480" cy="365760"/>
          </a:xfrm>
          <a:prstGeom prst="rect">
            <a:avLst/>
          </a:prstGeom>
          <a:noFill/>
          <a:ln/>
        </p:spPr>
        <p:txBody>
          <a:bodyPr wrap="square" rtlCol="0" anchor="ctr"/>
          <a:lstStyle/>
          <a:p>
            <a:pPr algn="ctr" indent="0" marL="0">
              <a:buNone/>
            </a:pPr>
            <a:r>
              <a:rPr lang="en-US" sz="1000" i="1" dirty="0">
                <a:solidFill>
                  <a:srgbClr val="64748B"/>
                </a:solidFill>
              </a:rPr>
              <a:t>Problème inverse mal posé : reconstruction à haute résolution spatiale ET spectrale sans données de référence directes.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5029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Évolution du Modèle</a:t>
            </a:r>
            <a:endParaRPr lang="en-US" sz="2800" dirty="0"/>
          </a:p>
        </p:txBody>
      </p:sp>
      <p:sp>
        <p:nvSpPr>
          <p:cNvPr id="3" name="Text 1"/>
          <p:cNvSpPr/>
          <p:nvPr/>
        </p:nvSpPr>
        <p:spPr>
          <a:xfrm>
            <a:off x="457200" y="749808"/>
            <a:ext cx="8229600" cy="320040"/>
          </a:xfrm>
          <a:prstGeom prst="rect">
            <a:avLst/>
          </a:prstGeom>
          <a:noFill/>
          <a:ln/>
        </p:spPr>
        <p:txBody>
          <a:bodyPr wrap="square" rtlCol="0" anchor="ctr"/>
          <a:lstStyle/>
          <a:p>
            <a:pPr indent="0" marL="0">
              <a:buNone/>
            </a:pPr>
            <a:r>
              <a:rPr lang="en-US" sz="1200" i="1" dirty="0">
                <a:solidFill>
                  <a:srgbClr val="8BACC8"/>
                </a:solidFill>
              </a:rPr>
              <a:t>De la décomposition linéaire à l'auto-encodeur non-linéaire conjoint</a:t>
            </a:r>
            <a:endParaRPr lang="en-US" sz="1200" dirty="0"/>
          </a:p>
        </p:txBody>
      </p:sp>
      <p:sp>
        <p:nvSpPr>
          <p:cNvPr id="4" name="Shape 2"/>
          <p:cNvSpPr/>
          <p:nvPr/>
        </p:nvSpPr>
        <p:spPr>
          <a:xfrm>
            <a:off x="320040" y="1463040"/>
            <a:ext cx="1920240" cy="2788920"/>
          </a:xfrm>
          <a:prstGeom prst="roundRect">
            <a:avLst>
              <a:gd name="adj" fmla="val 5714"/>
            </a:avLst>
          </a:prstGeom>
          <a:solidFill>
            <a:srgbClr val="1E4D6B"/>
          </a:solidFill>
          <a:ln/>
        </p:spPr>
      </p:sp>
      <p:sp>
        <p:nvSpPr>
          <p:cNvPr id="5" name="Shape 3"/>
          <p:cNvSpPr/>
          <p:nvPr/>
        </p:nvSpPr>
        <p:spPr>
          <a:xfrm>
            <a:off x="914400" y="1325880"/>
            <a:ext cx="502920" cy="502920"/>
          </a:xfrm>
          <a:prstGeom prst="ellipse">
            <a:avLst/>
          </a:prstGeom>
          <a:solidFill>
            <a:srgbClr val="8BACC8"/>
          </a:solidFill>
          <a:ln/>
        </p:spPr>
      </p:sp>
      <p:sp>
        <p:nvSpPr>
          <p:cNvPr id="6" name="Text 4"/>
          <p:cNvSpPr/>
          <p:nvPr/>
        </p:nvSpPr>
        <p:spPr>
          <a:xfrm>
            <a:off x="914400" y="13258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v0</a:t>
            </a:r>
            <a:endParaRPr lang="en-US" sz="1400" dirty="0"/>
          </a:p>
        </p:txBody>
      </p:sp>
      <p:sp>
        <p:nvSpPr>
          <p:cNvPr id="7" name="Text 5"/>
          <p:cNvSpPr/>
          <p:nvPr/>
        </p:nvSpPr>
        <p:spPr>
          <a:xfrm>
            <a:off x="365760" y="1920240"/>
            <a:ext cx="1920240" cy="548640"/>
          </a:xfrm>
          <a:prstGeom prst="rect">
            <a:avLst/>
          </a:prstGeom>
          <a:noFill/>
          <a:ln/>
        </p:spPr>
        <p:txBody>
          <a:bodyPr wrap="square" rtlCol="0" anchor="ctr"/>
          <a:lstStyle/>
          <a:p>
            <a:pPr algn="ctr" indent="0" marL="0">
              <a:buNone/>
            </a:pPr>
            <a:r>
              <a:rPr lang="en-US" sz="1200" b="1" dirty="0">
                <a:solidFill>
                  <a:srgbClr val="FFFFFF"/>
                </a:solidFill>
              </a:rPr>
              <a:t>Tucker ALS</a:t>
            </a:r>
            <a:endParaRPr lang="en-US" sz="1200" dirty="0"/>
          </a:p>
          <a:p>
            <a:pPr algn="ctr" indent="0" marL="0">
              <a:buNone/>
            </a:pPr>
            <a:r>
              <a:rPr lang="en-US" sz="1200" b="1" dirty="0">
                <a:solidFill>
                  <a:srgbClr val="FFFFFF"/>
                </a:solidFill>
              </a:rPr>
              <a:t>Linéaire</a:t>
            </a:r>
            <a:endParaRPr lang="en-US" sz="1200" dirty="0"/>
          </a:p>
        </p:txBody>
      </p:sp>
      <p:sp>
        <p:nvSpPr>
          <p:cNvPr id="8" name="Text 6"/>
          <p:cNvSpPr/>
          <p:nvPr/>
        </p:nvSpPr>
        <p:spPr>
          <a:xfrm>
            <a:off x="365760" y="2514600"/>
            <a:ext cx="1920240" cy="822960"/>
          </a:xfrm>
          <a:prstGeom prst="rect">
            <a:avLst/>
          </a:prstGeom>
          <a:noFill/>
          <a:ln/>
        </p:spPr>
        <p:txBody>
          <a:bodyPr wrap="square" rtlCol="0" anchor="ctr"/>
          <a:lstStyle/>
          <a:p>
            <a:pPr algn="ctr" indent="0" marL="0">
              <a:buNone/>
            </a:pPr>
            <a:r>
              <a:rPr lang="en-US" sz="1000" dirty="0">
                <a:solidFill>
                  <a:srgbClr val="8BACC8"/>
                </a:solidFill>
              </a:rPr>
              <a:t>Décomposition</a:t>
            </a:r>
            <a:endParaRPr lang="en-US" sz="1000" dirty="0"/>
          </a:p>
          <a:p>
            <a:pPr algn="ctr" indent="0" marL="0">
              <a:buNone/>
            </a:pPr>
            <a:r>
              <a:rPr lang="en-US" sz="1000" dirty="0">
                <a:solidFill>
                  <a:srgbClr val="8BACC8"/>
                </a:solidFill>
              </a:rPr>
              <a:t>algébrique ALS</a:t>
            </a:r>
            <a:endParaRPr lang="en-US" sz="1000" dirty="0"/>
          </a:p>
          <a:p>
            <a:pPr algn="ctr" indent="0" marL="0">
              <a:buNone/>
            </a:pPr>
            <a:r>
              <a:rPr lang="en-US" sz="1000" dirty="0">
                <a:solidFill>
                  <a:srgbClr val="8BACC8"/>
                </a:solidFill>
              </a:rPr>
              <a:t>Sans réseau</a:t>
            </a:r>
            <a:endParaRPr lang="en-US" sz="1000" dirty="0"/>
          </a:p>
        </p:txBody>
      </p:sp>
      <p:sp>
        <p:nvSpPr>
          <p:cNvPr id="9" name="Shape 7"/>
          <p:cNvSpPr/>
          <p:nvPr/>
        </p:nvSpPr>
        <p:spPr>
          <a:xfrm>
            <a:off x="621792" y="3429000"/>
            <a:ext cx="1371600" cy="384048"/>
          </a:xfrm>
          <a:prstGeom prst="roundRect">
            <a:avLst>
              <a:gd name="adj" fmla="val 14286"/>
            </a:avLst>
          </a:prstGeom>
          <a:solidFill>
            <a:srgbClr val="1A3A55"/>
          </a:solidFill>
          <a:ln/>
        </p:spPr>
      </p:sp>
      <p:sp>
        <p:nvSpPr>
          <p:cNvPr id="10" name="Text 8"/>
          <p:cNvSpPr/>
          <p:nvPr/>
        </p:nvSpPr>
        <p:spPr>
          <a:xfrm>
            <a:off x="621792" y="3429000"/>
            <a:ext cx="1371600" cy="384048"/>
          </a:xfrm>
          <a:prstGeom prst="rect">
            <a:avLst/>
          </a:prstGeom>
          <a:noFill/>
          <a:ln/>
        </p:spPr>
        <p:txBody>
          <a:bodyPr wrap="square" lIns="0" tIns="0" rIns="0" bIns="0" rtlCol="0" anchor="ctr"/>
          <a:lstStyle/>
          <a:p>
            <a:pPr algn="ctr" indent="0" marL="0">
              <a:buNone/>
            </a:pPr>
            <a:r>
              <a:rPr lang="en-US" sz="1300" b="1" dirty="0">
                <a:solidFill>
                  <a:srgbClr val="FFFFFF"/>
                </a:solidFill>
              </a:rPr>
              <a:t>~20 dB</a:t>
            </a:r>
            <a:endParaRPr lang="en-US" sz="1300" dirty="0"/>
          </a:p>
        </p:txBody>
      </p:sp>
      <p:sp>
        <p:nvSpPr>
          <p:cNvPr id="11" name="Text 9"/>
          <p:cNvSpPr/>
          <p:nvPr/>
        </p:nvSpPr>
        <p:spPr>
          <a:xfrm>
            <a:off x="2286000" y="2103120"/>
            <a:ext cx="228600" cy="365760"/>
          </a:xfrm>
          <a:prstGeom prst="rect">
            <a:avLst/>
          </a:prstGeom>
          <a:noFill/>
          <a:ln/>
        </p:spPr>
        <p:txBody>
          <a:bodyPr wrap="square" rtlCol="0" anchor="ctr"/>
          <a:lstStyle/>
          <a:p>
            <a:pPr algn="ctr" indent="0" marL="0">
              <a:buNone/>
            </a:pPr>
            <a:r>
              <a:rPr lang="en-US" sz="1600" dirty="0">
                <a:solidFill>
                  <a:srgbClr val="8BACC8"/>
                </a:solidFill>
              </a:rPr>
              <a:t>→</a:t>
            </a:r>
            <a:endParaRPr lang="en-US" sz="1600" dirty="0"/>
          </a:p>
        </p:txBody>
      </p:sp>
      <p:sp>
        <p:nvSpPr>
          <p:cNvPr id="12" name="Shape 10"/>
          <p:cNvSpPr/>
          <p:nvPr/>
        </p:nvSpPr>
        <p:spPr>
          <a:xfrm>
            <a:off x="2468880" y="1463040"/>
            <a:ext cx="1920240" cy="2788920"/>
          </a:xfrm>
          <a:prstGeom prst="roundRect">
            <a:avLst>
              <a:gd name="adj" fmla="val 5714"/>
            </a:avLst>
          </a:prstGeom>
          <a:solidFill>
            <a:srgbClr val="1E5E6B"/>
          </a:solidFill>
          <a:ln/>
        </p:spPr>
      </p:sp>
      <p:sp>
        <p:nvSpPr>
          <p:cNvPr id="13" name="Shape 11"/>
          <p:cNvSpPr/>
          <p:nvPr/>
        </p:nvSpPr>
        <p:spPr>
          <a:xfrm>
            <a:off x="3063240" y="1325880"/>
            <a:ext cx="502920" cy="502920"/>
          </a:xfrm>
          <a:prstGeom prst="ellipse">
            <a:avLst/>
          </a:prstGeom>
          <a:solidFill>
            <a:srgbClr val="8BACC8"/>
          </a:solidFill>
          <a:ln/>
        </p:spPr>
      </p:sp>
      <p:sp>
        <p:nvSpPr>
          <p:cNvPr id="14" name="Text 12"/>
          <p:cNvSpPr/>
          <p:nvPr/>
        </p:nvSpPr>
        <p:spPr>
          <a:xfrm>
            <a:off x="3063240" y="13258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v1</a:t>
            </a:r>
            <a:endParaRPr lang="en-US" sz="1400" dirty="0"/>
          </a:p>
        </p:txBody>
      </p:sp>
      <p:sp>
        <p:nvSpPr>
          <p:cNvPr id="15" name="Text 13"/>
          <p:cNvSpPr/>
          <p:nvPr/>
        </p:nvSpPr>
        <p:spPr>
          <a:xfrm>
            <a:off x="2514600" y="1920240"/>
            <a:ext cx="1920240" cy="548640"/>
          </a:xfrm>
          <a:prstGeom prst="rect">
            <a:avLst/>
          </a:prstGeom>
          <a:noFill/>
          <a:ln/>
        </p:spPr>
        <p:txBody>
          <a:bodyPr wrap="square" rtlCol="0" anchor="ctr"/>
          <a:lstStyle/>
          <a:p>
            <a:pPr algn="ctr" indent="0" marL="0">
              <a:buNone/>
            </a:pPr>
            <a:r>
              <a:rPr lang="en-US" sz="1200" b="1" dirty="0">
                <a:solidFill>
                  <a:srgbClr val="FFFFFF"/>
                </a:solidFill>
              </a:rPr>
              <a:t>CTAE</a:t>
            </a:r>
            <a:endParaRPr lang="en-US" sz="1200" dirty="0"/>
          </a:p>
          <a:p>
            <a:pPr algn="ctr" indent="0" marL="0">
              <a:buNone/>
            </a:pPr>
            <a:r>
              <a:rPr lang="en-US" sz="1200" b="1" dirty="0">
                <a:solidFill>
                  <a:srgbClr val="FFFFFF"/>
                </a:solidFill>
              </a:rPr>
              <a:t>Couplé</a:t>
            </a:r>
            <a:endParaRPr lang="en-US" sz="1200" dirty="0"/>
          </a:p>
        </p:txBody>
      </p:sp>
      <p:sp>
        <p:nvSpPr>
          <p:cNvPr id="16" name="Text 14"/>
          <p:cNvSpPr/>
          <p:nvPr/>
        </p:nvSpPr>
        <p:spPr>
          <a:xfrm>
            <a:off x="2514600" y="2514600"/>
            <a:ext cx="1920240" cy="822960"/>
          </a:xfrm>
          <a:prstGeom prst="rect">
            <a:avLst/>
          </a:prstGeom>
          <a:noFill/>
          <a:ln/>
        </p:spPr>
        <p:txBody>
          <a:bodyPr wrap="square" rtlCol="0" anchor="ctr"/>
          <a:lstStyle/>
          <a:p>
            <a:pPr algn="ctr" indent="0" marL="0">
              <a:buNone/>
            </a:pPr>
            <a:r>
              <a:rPr lang="en-US" sz="1000" dirty="0">
                <a:solidFill>
                  <a:srgbClr val="8BACC8"/>
                </a:solidFill>
              </a:rPr>
              <a:t>Encodeurs</a:t>
            </a:r>
            <a:endParaRPr lang="en-US" sz="1000" dirty="0"/>
          </a:p>
          <a:p>
            <a:pPr algn="ctr" indent="0" marL="0">
              <a:buNone/>
            </a:pPr>
            <a:r>
              <a:rPr lang="en-US" sz="1000" dirty="0">
                <a:solidFill>
                  <a:srgbClr val="8BACC8"/>
                </a:solidFill>
              </a:rPr>
              <a:t>séparés S2/S3</a:t>
            </a:r>
            <a:endParaRPr lang="en-US" sz="1000" dirty="0"/>
          </a:p>
          <a:p>
            <a:pPr algn="ctr" indent="0" marL="0">
              <a:buNone/>
            </a:pPr>
            <a:r>
              <a:rPr lang="en-US" sz="1000" dirty="0">
                <a:solidFill>
                  <a:srgbClr val="8BACC8"/>
                </a:solidFill>
              </a:rPr>
              <a:t>+ couplage</a:t>
            </a:r>
            <a:endParaRPr lang="en-US" sz="1000" dirty="0"/>
          </a:p>
        </p:txBody>
      </p:sp>
      <p:sp>
        <p:nvSpPr>
          <p:cNvPr id="17" name="Shape 15"/>
          <p:cNvSpPr/>
          <p:nvPr/>
        </p:nvSpPr>
        <p:spPr>
          <a:xfrm>
            <a:off x="2770632" y="3429000"/>
            <a:ext cx="1371600" cy="384048"/>
          </a:xfrm>
          <a:prstGeom prst="roundRect">
            <a:avLst>
              <a:gd name="adj" fmla="val 14286"/>
            </a:avLst>
          </a:prstGeom>
          <a:solidFill>
            <a:srgbClr val="1A3A55"/>
          </a:solidFill>
          <a:ln/>
        </p:spPr>
      </p:sp>
      <p:sp>
        <p:nvSpPr>
          <p:cNvPr id="18" name="Text 16"/>
          <p:cNvSpPr/>
          <p:nvPr/>
        </p:nvSpPr>
        <p:spPr>
          <a:xfrm>
            <a:off x="2770632" y="3429000"/>
            <a:ext cx="1371600" cy="384048"/>
          </a:xfrm>
          <a:prstGeom prst="rect">
            <a:avLst/>
          </a:prstGeom>
          <a:noFill/>
          <a:ln/>
        </p:spPr>
        <p:txBody>
          <a:bodyPr wrap="square" lIns="0" tIns="0" rIns="0" bIns="0" rtlCol="0" anchor="ctr"/>
          <a:lstStyle/>
          <a:p>
            <a:pPr algn="ctr" indent="0" marL="0">
              <a:buNone/>
            </a:pPr>
            <a:r>
              <a:rPr lang="en-US" sz="1300" b="1" dirty="0">
                <a:solidFill>
                  <a:srgbClr val="FFFFFF"/>
                </a:solidFill>
              </a:rPr>
              <a:t>26.6 dB</a:t>
            </a:r>
            <a:endParaRPr lang="en-US" sz="1300" dirty="0"/>
          </a:p>
        </p:txBody>
      </p:sp>
      <p:sp>
        <p:nvSpPr>
          <p:cNvPr id="19" name="Text 17"/>
          <p:cNvSpPr/>
          <p:nvPr/>
        </p:nvSpPr>
        <p:spPr>
          <a:xfrm>
            <a:off x="4434840" y="2103120"/>
            <a:ext cx="228600" cy="365760"/>
          </a:xfrm>
          <a:prstGeom prst="rect">
            <a:avLst/>
          </a:prstGeom>
          <a:noFill/>
          <a:ln/>
        </p:spPr>
        <p:txBody>
          <a:bodyPr wrap="square" rtlCol="0" anchor="ctr"/>
          <a:lstStyle/>
          <a:p>
            <a:pPr algn="ctr" indent="0" marL="0">
              <a:buNone/>
            </a:pPr>
            <a:r>
              <a:rPr lang="en-US" sz="1600" dirty="0">
                <a:solidFill>
                  <a:srgbClr val="8BACC8"/>
                </a:solidFill>
              </a:rPr>
              <a:t>→</a:t>
            </a:r>
            <a:endParaRPr lang="en-US" sz="1600" dirty="0"/>
          </a:p>
        </p:txBody>
      </p:sp>
      <p:sp>
        <p:nvSpPr>
          <p:cNvPr id="20" name="Shape 18"/>
          <p:cNvSpPr/>
          <p:nvPr/>
        </p:nvSpPr>
        <p:spPr>
          <a:xfrm>
            <a:off x="4617720" y="1463040"/>
            <a:ext cx="1920240" cy="2788920"/>
          </a:xfrm>
          <a:prstGeom prst="roundRect">
            <a:avLst>
              <a:gd name="adj" fmla="val 5714"/>
            </a:avLst>
          </a:prstGeom>
          <a:solidFill>
            <a:srgbClr val="0E5A7A"/>
          </a:solidFill>
          <a:ln/>
        </p:spPr>
      </p:sp>
      <p:sp>
        <p:nvSpPr>
          <p:cNvPr id="21" name="Shape 19"/>
          <p:cNvSpPr/>
          <p:nvPr/>
        </p:nvSpPr>
        <p:spPr>
          <a:xfrm>
            <a:off x="5212080" y="1325880"/>
            <a:ext cx="502920" cy="502920"/>
          </a:xfrm>
          <a:prstGeom prst="ellipse">
            <a:avLst/>
          </a:prstGeom>
          <a:solidFill>
            <a:srgbClr val="8BACC8"/>
          </a:solidFill>
          <a:ln/>
        </p:spPr>
      </p:sp>
      <p:sp>
        <p:nvSpPr>
          <p:cNvPr id="22" name="Text 20"/>
          <p:cNvSpPr/>
          <p:nvPr/>
        </p:nvSpPr>
        <p:spPr>
          <a:xfrm>
            <a:off x="5212080" y="1325880"/>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v2</a:t>
            </a:r>
            <a:endParaRPr lang="en-US" sz="1400" dirty="0"/>
          </a:p>
        </p:txBody>
      </p:sp>
      <p:sp>
        <p:nvSpPr>
          <p:cNvPr id="23" name="Text 21"/>
          <p:cNvSpPr/>
          <p:nvPr/>
        </p:nvSpPr>
        <p:spPr>
          <a:xfrm>
            <a:off x="4663440" y="1920240"/>
            <a:ext cx="1920240" cy="548640"/>
          </a:xfrm>
          <a:prstGeom prst="rect">
            <a:avLst/>
          </a:prstGeom>
          <a:noFill/>
          <a:ln/>
        </p:spPr>
        <p:txBody>
          <a:bodyPr wrap="square" rtlCol="0" anchor="ctr"/>
          <a:lstStyle/>
          <a:p>
            <a:pPr algn="ctr" indent="0" marL="0">
              <a:buNone/>
            </a:pPr>
            <a:r>
              <a:rPr lang="en-US" sz="1200" b="1" dirty="0">
                <a:solidFill>
                  <a:srgbClr val="FFFFFF"/>
                </a:solidFill>
              </a:rPr>
              <a:t>NL-JTAE</a:t>
            </a:r>
            <a:endParaRPr lang="en-US" sz="1200" dirty="0"/>
          </a:p>
          <a:p>
            <a:pPr algn="ctr" indent="0" marL="0">
              <a:buNone/>
            </a:pPr>
            <a:r>
              <a:rPr lang="en-US" sz="1200" b="1" dirty="0">
                <a:solidFill>
                  <a:srgbClr val="FFFFFF"/>
                </a:solidFill>
              </a:rPr>
              <a:t>Conjoint</a:t>
            </a:r>
            <a:endParaRPr lang="en-US" sz="1200" dirty="0"/>
          </a:p>
        </p:txBody>
      </p:sp>
      <p:sp>
        <p:nvSpPr>
          <p:cNvPr id="24" name="Text 22"/>
          <p:cNvSpPr/>
          <p:nvPr/>
        </p:nvSpPr>
        <p:spPr>
          <a:xfrm>
            <a:off x="4663440" y="2514600"/>
            <a:ext cx="1920240" cy="822960"/>
          </a:xfrm>
          <a:prstGeom prst="rect">
            <a:avLst/>
          </a:prstGeom>
          <a:noFill/>
          <a:ln/>
        </p:spPr>
        <p:txBody>
          <a:bodyPr wrap="square" rtlCol="0" anchor="ctr"/>
          <a:lstStyle/>
          <a:p>
            <a:pPr algn="ctr" indent="0" marL="0">
              <a:buNone/>
            </a:pPr>
            <a:r>
              <a:rPr lang="en-US" sz="1000" dirty="0">
                <a:solidFill>
                  <a:srgbClr val="8BACC8"/>
                </a:solidFill>
              </a:rPr>
              <a:t>Encodeur unique</a:t>
            </a:r>
            <a:endParaRPr lang="en-US" sz="1000" dirty="0"/>
          </a:p>
          <a:p>
            <a:pPr algn="ctr" indent="0" marL="0">
              <a:buNone/>
            </a:pPr>
            <a:r>
              <a:rPr lang="en-US" sz="1000" dirty="0">
                <a:solidFill>
                  <a:srgbClr val="8BACC8"/>
                </a:solidFill>
              </a:rPr>
              <a:t>34 canaux</a:t>
            </a:r>
            <a:endParaRPr lang="en-US" sz="1000" dirty="0"/>
          </a:p>
          <a:p>
            <a:pPr algn="ctr" indent="0" marL="0">
              <a:buNone/>
            </a:pPr>
            <a:r>
              <a:rPr lang="en-US" sz="1000" dirty="0">
                <a:solidFill>
                  <a:srgbClr val="8BACC8"/>
                </a:solidFill>
              </a:rPr>
              <a:t>Inception</a:t>
            </a:r>
            <a:endParaRPr lang="en-US" sz="1000" dirty="0"/>
          </a:p>
        </p:txBody>
      </p:sp>
      <p:sp>
        <p:nvSpPr>
          <p:cNvPr id="25" name="Shape 23"/>
          <p:cNvSpPr/>
          <p:nvPr/>
        </p:nvSpPr>
        <p:spPr>
          <a:xfrm>
            <a:off x="4919472" y="3429000"/>
            <a:ext cx="1371600" cy="384048"/>
          </a:xfrm>
          <a:prstGeom prst="roundRect">
            <a:avLst>
              <a:gd name="adj" fmla="val 14286"/>
            </a:avLst>
          </a:prstGeom>
          <a:solidFill>
            <a:srgbClr val="1A3A55"/>
          </a:solidFill>
          <a:ln/>
        </p:spPr>
      </p:sp>
      <p:sp>
        <p:nvSpPr>
          <p:cNvPr id="26" name="Text 24"/>
          <p:cNvSpPr/>
          <p:nvPr/>
        </p:nvSpPr>
        <p:spPr>
          <a:xfrm>
            <a:off x="4919472" y="3429000"/>
            <a:ext cx="1371600" cy="384048"/>
          </a:xfrm>
          <a:prstGeom prst="rect">
            <a:avLst/>
          </a:prstGeom>
          <a:noFill/>
          <a:ln/>
        </p:spPr>
        <p:txBody>
          <a:bodyPr wrap="square" lIns="0" tIns="0" rIns="0" bIns="0" rtlCol="0" anchor="ctr"/>
          <a:lstStyle/>
          <a:p>
            <a:pPr algn="ctr" indent="0" marL="0">
              <a:buNone/>
            </a:pPr>
            <a:r>
              <a:rPr lang="en-US" sz="1300" b="1" dirty="0">
                <a:solidFill>
                  <a:srgbClr val="FFFFFF"/>
                </a:solidFill>
              </a:rPr>
              <a:t>25.9 dB</a:t>
            </a:r>
            <a:endParaRPr lang="en-US" sz="1300" dirty="0"/>
          </a:p>
        </p:txBody>
      </p:sp>
      <p:sp>
        <p:nvSpPr>
          <p:cNvPr id="27" name="Text 25"/>
          <p:cNvSpPr/>
          <p:nvPr/>
        </p:nvSpPr>
        <p:spPr>
          <a:xfrm>
            <a:off x="6583680" y="2103120"/>
            <a:ext cx="228600" cy="365760"/>
          </a:xfrm>
          <a:prstGeom prst="rect">
            <a:avLst/>
          </a:prstGeom>
          <a:noFill/>
          <a:ln/>
        </p:spPr>
        <p:txBody>
          <a:bodyPr wrap="square" rtlCol="0" anchor="ctr"/>
          <a:lstStyle/>
          <a:p>
            <a:pPr algn="ctr" indent="0" marL="0">
              <a:buNone/>
            </a:pPr>
            <a:r>
              <a:rPr lang="en-US" sz="1600" dirty="0">
                <a:solidFill>
                  <a:srgbClr val="8BACC8"/>
                </a:solidFill>
              </a:rPr>
              <a:t>→</a:t>
            </a:r>
            <a:endParaRPr lang="en-US" sz="1600" dirty="0"/>
          </a:p>
        </p:txBody>
      </p:sp>
      <p:sp>
        <p:nvSpPr>
          <p:cNvPr id="28" name="Shape 26"/>
          <p:cNvSpPr/>
          <p:nvPr/>
        </p:nvSpPr>
        <p:spPr>
          <a:xfrm>
            <a:off x="6720840" y="1234440"/>
            <a:ext cx="2011680" cy="3246120"/>
          </a:xfrm>
          <a:prstGeom prst="roundRect">
            <a:avLst>
              <a:gd name="adj" fmla="val 6364"/>
            </a:avLst>
          </a:prstGeom>
          <a:solidFill>
            <a:srgbClr val="065A82"/>
          </a:solidFill>
          <a:ln/>
          <a:effectLst>
            <a:outerShdw sx="100000" sy="100000" kx="0" ky="0" algn="bl" rotWithShape="0" blurRad="190500" dist="50800" dir="2700000">
              <a:srgbClr val="00C2CB">
                <a:alpha val="50000"/>
              </a:srgbClr>
            </a:outerShdw>
          </a:effectLst>
        </p:spPr>
      </p:sp>
      <p:sp>
        <p:nvSpPr>
          <p:cNvPr id="29" name="Shape 27"/>
          <p:cNvSpPr/>
          <p:nvPr/>
        </p:nvSpPr>
        <p:spPr>
          <a:xfrm>
            <a:off x="7406640" y="1097280"/>
            <a:ext cx="502920" cy="502920"/>
          </a:xfrm>
          <a:prstGeom prst="ellipse">
            <a:avLst/>
          </a:prstGeom>
          <a:solidFill>
            <a:srgbClr val="00C2CB"/>
          </a:solidFill>
          <a:ln/>
        </p:spPr>
      </p:sp>
      <p:sp>
        <p:nvSpPr>
          <p:cNvPr id="30" name="Text 28"/>
          <p:cNvSpPr/>
          <p:nvPr/>
        </p:nvSpPr>
        <p:spPr>
          <a:xfrm>
            <a:off x="7406640" y="1097280"/>
            <a:ext cx="502920" cy="502920"/>
          </a:xfrm>
          <a:prstGeom prst="rect">
            <a:avLst/>
          </a:prstGeom>
          <a:noFill/>
          <a:ln/>
        </p:spPr>
        <p:txBody>
          <a:bodyPr wrap="square" lIns="0" tIns="0" rIns="0" bIns="0" rtlCol="0" anchor="ctr"/>
          <a:lstStyle/>
          <a:p>
            <a:pPr algn="ctr" indent="0" marL="0">
              <a:buNone/>
            </a:pPr>
            <a:r>
              <a:rPr lang="en-US" sz="1400" b="1" dirty="0">
                <a:solidFill>
                  <a:srgbClr val="0A1628"/>
                </a:solidFill>
              </a:rPr>
              <a:t>v3</a:t>
            </a:r>
            <a:endParaRPr lang="en-US" sz="1400" dirty="0"/>
          </a:p>
        </p:txBody>
      </p:sp>
      <p:sp>
        <p:nvSpPr>
          <p:cNvPr id="31" name="Text 29"/>
          <p:cNvSpPr/>
          <p:nvPr/>
        </p:nvSpPr>
        <p:spPr>
          <a:xfrm>
            <a:off x="6757416" y="1737360"/>
            <a:ext cx="1920240" cy="548640"/>
          </a:xfrm>
          <a:prstGeom prst="rect">
            <a:avLst/>
          </a:prstGeom>
          <a:noFill/>
          <a:ln/>
        </p:spPr>
        <p:txBody>
          <a:bodyPr wrap="square" rtlCol="0" anchor="ctr"/>
          <a:lstStyle/>
          <a:p>
            <a:pPr algn="ctr" indent="0" marL="0">
              <a:buNone/>
            </a:pPr>
            <a:r>
              <a:rPr lang="en-US" sz="1200" b="1" dirty="0">
                <a:solidFill>
                  <a:srgbClr val="FFFFFF"/>
                </a:solidFill>
              </a:rPr>
              <a:t>NL-JTAE v3</a:t>
            </a:r>
            <a:endParaRPr lang="en-US" sz="1200" dirty="0"/>
          </a:p>
          <a:p>
            <a:pPr algn="ctr" indent="0" marL="0">
              <a:buNone/>
            </a:pPr>
            <a:r>
              <a:rPr lang="en-US" sz="1200" b="1" dirty="0">
                <a:solidFill>
                  <a:srgbClr val="FFFFFF"/>
                </a:solidFill>
              </a:rPr>
              <a:t>Skips+Transp</a:t>
            </a:r>
            <a:endParaRPr lang="en-US" sz="1200" dirty="0"/>
          </a:p>
        </p:txBody>
      </p:sp>
      <p:sp>
        <p:nvSpPr>
          <p:cNvPr id="32" name="Text 30"/>
          <p:cNvSpPr/>
          <p:nvPr/>
        </p:nvSpPr>
        <p:spPr>
          <a:xfrm>
            <a:off x="6757416" y="2331720"/>
            <a:ext cx="1920240" cy="822960"/>
          </a:xfrm>
          <a:prstGeom prst="rect">
            <a:avLst/>
          </a:prstGeom>
          <a:noFill/>
          <a:ln/>
        </p:spPr>
        <p:txBody>
          <a:bodyPr wrap="square" rtlCol="0" anchor="ctr"/>
          <a:lstStyle/>
          <a:p>
            <a:pPr algn="ctr" indent="0" marL="0">
              <a:buNone/>
            </a:pPr>
            <a:r>
              <a:rPr lang="en-US" sz="1000" dirty="0">
                <a:solidFill>
                  <a:srgbClr val="C8F0F3"/>
                </a:solidFill>
              </a:rPr>
              <a:t>Skip connections</a:t>
            </a:r>
            <a:endParaRPr lang="en-US" sz="1000" dirty="0"/>
          </a:p>
          <a:p>
            <a:pPr algn="ctr" indent="0" marL="0">
              <a:buNone/>
            </a:pPr>
            <a:r>
              <a:rPr lang="en-US" sz="1000" dirty="0">
                <a:solidFill>
                  <a:srgbClr val="C8F0F3"/>
                </a:solidFill>
              </a:rPr>
              <a:t>ConvTranspose</a:t>
            </a:r>
            <a:endParaRPr lang="en-US" sz="1000" dirty="0"/>
          </a:p>
          <a:p>
            <a:pPr algn="ctr" indent="0" marL="0">
              <a:buNone/>
            </a:pPr>
            <a:r>
              <a:rPr lang="en-US" sz="1000" dirty="0">
                <a:solidFill>
                  <a:srgbClr val="C8F0F3"/>
                </a:solidFill>
              </a:rPr>
              <a:t>SAM Loss</a:t>
            </a:r>
            <a:endParaRPr lang="en-US" sz="1000" dirty="0"/>
          </a:p>
        </p:txBody>
      </p:sp>
      <p:sp>
        <p:nvSpPr>
          <p:cNvPr id="33" name="Shape 31"/>
          <p:cNvSpPr/>
          <p:nvPr/>
        </p:nvSpPr>
        <p:spPr>
          <a:xfrm>
            <a:off x="7022592" y="3291840"/>
            <a:ext cx="1371600" cy="384048"/>
          </a:xfrm>
          <a:prstGeom prst="roundRect">
            <a:avLst>
              <a:gd name="adj" fmla="val 14286"/>
            </a:avLst>
          </a:prstGeom>
          <a:solidFill>
            <a:srgbClr val="00C2CB"/>
          </a:solidFill>
          <a:ln/>
        </p:spPr>
      </p:sp>
      <p:sp>
        <p:nvSpPr>
          <p:cNvPr id="34" name="Text 32"/>
          <p:cNvSpPr/>
          <p:nvPr/>
        </p:nvSpPr>
        <p:spPr>
          <a:xfrm>
            <a:off x="7022592" y="3291840"/>
            <a:ext cx="1371600" cy="384048"/>
          </a:xfrm>
          <a:prstGeom prst="rect">
            <a:avLst/>
          </a:prstGeom>
          <a:noFill/>
          <a:ln/>
        </p:spPr>
        <p:txBody>
          <a:bodyPr wrap="square" lIns="0" tIns="0" rIns="0" bIns="0" rtlCol="0" anchor="ctr"/>
          <a:lstStyle/>
          <a:p>
            <a:pPr algn="ctr" indent="0" marL="0">
              <a:buNone/>
            </a:pPr>
            <a:r>
              <a:rPr lang="en-US" sz="1300" b="1" dirty="0">
                <a:solidFill>
                  <a:srgbClr val="0A1628"/>
                </a:solidFill>
              </a:rPr>
              <a:t>40.6 dB</a:t>
            </a:r>
            <a:endParaRPr lang="en-US" sz="1300" dirty="0"/>
          </a:p>
        </p:txBody>
      </p:sp>
      <p:sp>
        <p:nvSpPr>
          <p:cNvPr id="35" name="Text 33"/>
          <p:cNvSpPr/>
          <p:nvPr/>
        </p:nvSpPr>
        <p:spPr>
          <a:xfrm>
            <a:off x="457200" y="4754880"/>
            <a:ext cx="8229600" cy="228600"/>
          </a:xfrm>
          <a:prstGeom prst="rect">
            <a:avLst/>
          </a:prstGeom>
          <a:noFill/>
          <a:ln/>
        </p:spPr>
        <p:txBody>
          <a:bodyPr wrap="square" rtlCol="0" anchor="ctr"/>
          <a:lstStyle/>
          <a:p>
            <a:pPr indent="0" marL="0">
              <a:buNone/>
            </a:pPr>
            <a:r>
              <a:rPr lang="en-US" sz="900" i="1" dirty="0">
                <a:solidFill>
                  <a:srgbClr val="8BACC8"/>
                </a:solidFill>
              </a:rPr>
              <a:t>* PSNR sur PaviaU, mode supervisé</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AFF"/>
        </a:solidFill>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indent="0" marL="0">
              <a:buNone/>
            </a:pPr>
            <a:r>
              <a:rPr lang="en-US" sz="2600" b="1" dirty="0">
                <a:solidFill>
                  <a:srgbClr val="0A1628"/>
                </a:solidFill>
                <a:latin typeface="Cambria" pitchFamily="34" charset="0"/>
                <a:ea typeface="Cambria" pitchFamily="34" charset="-122"/>
                <a:cs typeface="Cambria" pitchFamily="34" charset="-120"/>
              </a:rPr>
              <a:t>Architecture v2 – NL-JTAE</a:t>
            </a:r>
            <a:endParaRPr lang="en-US" sz="2600" dirty="0"/>
          </a:p>
        </p:txBody>
      </p:sp>
      <p:sp>
        <p:nvSpPr>
          <p:cNvPr id="3" name="Text 1"/>
          <p:cNvSpPr/>
          <p:nvPr/>
        </p:nvSpPr>
        <p:spPr>
          <a:xfrm>
            <a:off x="457200" y="758952"/>
            <a:ext cx="8229600" cy="274320"/>
          </a:xfrm>
          <a:prstGeom prst="rect">
            <a:avLst/>
          </a:prstGeom>
          <a:noFill/>
          <a:ln/>
        </p:spPr>
        <p:txBody>
          <a:bodyPr wrap="square" rtlCol="0" anchor="ctr"/>
          <a:lstStyle/>
          <a:p>
            <a:pPr indent="0" marL="0">
              <a:buNone/>
            </a:pPr>
            <a:r>
              <a:rPr lang="en-US" sz="1100" i="1" dirty="0">
                <a:solidFill>
                  <a:srgbClr val="64748B"/>
                </a:solidFill>
              </a:rPr>
              <a:t>Encodeur conjoint InceptionBlock · Décodeur Upsample+Conv · Sans skip connections</a:t>
            </a:r>
            <a:endParaRPr lang="en-US" sz="1100" dirty="0"/>
          </a:p>
        </p:txBody>
      </p:sp>
      <p:sp>
        <p:nvSpPr>
          <p:cNvPr id="4" name="Shape 2"/>
          <p:cNvSpPr/>
          <p:nvPr/>
        </p:nvSpPr>
        <p:spPr>
          <a:xfrm>
            <a:off x="228600" y="1188720"/>
            <a:ext cx="1417320" cy="1554480"/>
          </a:xfrm>
          <a:prstGeom prst="roundRect">
            <a:avLst>
              <a:gd name="adj" fmla="val 6452"/>
            </a:avLst>
          </a:prstGeom>
          <a:solidFill>
            <a:srgbClr val="E0F2FE"/>
          </a:solidFill>
          <a:ln/>
          <a:effectLst>
            <a:outerShdw sx="100000" sy="100000" kx="0" ky="0" algn="bl" rotWithShape="0" blurRad="76200" dist="25400" dir="2700000">
              <a:srgbClr val="000000">
                <a:alpha val="10000"/>
              </a:srgbClr>
            </a:outerShdw>
          </a:effectLst>
        </p:spPr>
      </p:sp>
      <p:sp>
        <p:nvSpPr>
          <p:cNvPr id="5" name="Text 3"/>
          <p:cNvSpPr/>
          <p:nvPr/>
        </p:nvSpPr>
        <p:spPr>
          <a:xfrm>
            <a:off x="228600" y="1243584"/>
            <a:ext cx="1417320" cy="457200"/>
          </a:xfrm>
          <a:prstGeom prst="rect">
            <a:avLst/>
          </a:prstGeom>
          <a:noFill/>
          <a:ln/>
        </p:spPr>
        <p:txBody>
          <a:bodyPr wrap="square" rtlCol="0" anchor="ctr"/>
          <a:lstStyle/>
          <a:p>
            <a:pPr algn="ctr" indent="0" marL="0">
              <a:buNone/>
            </a:pPr>
            <a:r>
              <a:rPr lang="en-US" sz="1100" b="1" dirty="0">
                <a:solidFill>
                  <a:srgbClr val="0369A1"/>
                </a:solidFill>
              </a:rPr>
              <a:t>Entrée</a:t>
            </a:r>
            <a:endParaRPr lang="en-US" sz="1100" dirty="0"/>
          </a:p>
          <a:p>
            <a:pPr algn="ctr" indent="0" marL="0">
              <a:buNone/>
            </a:pPr>
            <a:r>
              <a:rPr lang="en-US" sz="1100" b="1" dirty="0">
                <a:solidFill>
                  <a:srgbClr val="0369A1"/>
                </a:solidFill>
              </a:rPr>
              <a:t>Conjointe</a:t>
            </a:r>
            <a:endParaRPr lang="en-US" sz="1100" dirty="0"/>
          </a:p>
        </p:txBody>
      </p:sp>
      <p:sp>
        <p:nvSpPr>
          <p:cNvPr id="6" name="Text 4"/>
          <p:cNvSpPr/>
          <p:nvPr/>
        </p:nvSpPr>
        <p:spPr>
          <a:xfrm>
            <a:off x="228600" y="1719072"/>
            <a:ext cx="1417320" cy="822960"/>
          </a:xfrm>
          <a:prstGeom prst="rect">
            <a:avLst/>
          </a:prstGeom>
          <a:noFill/>
          <a:ln/>
        </p:spPr>
        <p:txBody>
          <a:bodyPr wrap="square" rtlCol="0" anchor="ctr"/>
          <a:lstStyle/>
          <a:p>
            <a:pPr algn="ctr" indent="0" marL="0">
              <a:buNone/>
            </a:pPr>
            <a:r>
              <a:rPr lang="en-US" sz="900" dirty="0">
                <a:solidFill>
                  <a:srgbClr val="64748B"/>
                </a:solidFill>
              </a:rPr>
              <a:t>S2 (13ch)</a:t>
            </a:r>
            <a:endParaRPr lang="en-US" sz="900" dirty="0"/>
          </a:p>
          <a:p>
            <a:pPr algn="ctr" indent="0" marL="0">
              <a:buNone/>
            </a:pPr>
            <a:r>
              <a:rPr lang="en-US" sz="900" dirty="0">
                <a:solidFill>
                  <a:srgbClr val="64748B"/>
                </a:solidFill>
              </a:rPr>
              <a:t>+ S3 (21ch)</a:t>
            </a:r>
            <a:endParaRPr lang="en-US" sz="900" dirty="0"/>
          </a:p>
          <a:p>
            <a:pPr algn="ctr" indent="0" marL="0">
              <a:buNone/>
            </a:pPr>
            <a:r>
              <a:rPr lang="en-US" sz="900" dirty="0">
                <a:solidFill>
                  <a:srgbClr val="64748B"/>
                </a:solidFill>
              </a:rPr>
              <a:t>= 34 canaux</a:t>
            </a:r>
            <a:endParaRPr lang="en-US" sz="900" dirty="0"/>
          </a:p>
        </p:txBody>
      </p:sp>
      <p:sp>
        <p:nvSpPr>
          <p:cNvPr id="7" name="Text 5"/>
          <p:cNvSpPr/>
          <p:nvPr/>
        </p:nvSpPr>
        <p:spPr>
          <a:xfrm>
            <a:off x="1664208" y="1691640"/>
            <a:ext cx="228600" cy="365760"/>
          </a:xfrm>
          <a:prstGeom prst="rect">
            <a:avLst/>
          </a:prstGeom>
          <a:noFill/>
          <a:ln/>
        </p:spPr>
        <p:txBody>
          <a:bodyPr wrap="square" rtlCol="0" anchor="ctr"/>
          <a:lstStyle/>
          <a:p>
            <a:pPr algn="ctr" indent="0" marL="0">
              <a:buNone/>
            </a:pPr>
            <a:r>
              <a:rPr lang="en-US" sz="1600" dirty="0">
                <a:solidFill>
                  <a:srgbClr val="64748B"/>
                </a:solidFill>
              </a:rPr>
              <a:t>→</a:t>
            </a:r>
            <a:endParaRPr lang="en-US" sz="1600" dirty="0"/>
          </a:p>
        </p:txBody>
      </p:sp>
      <p:sp>
        <p:nvSpPr>
          <p:cNvPr id="8" name="Shape 6"/>
          <p:cNvSpPr/>
          <p:nvPr/>
        </p:nvSpPr>
        <p:spPr>
          <a:xfrm>
            <a:off x="1920240" y="1188720"/>
            <a:ext cx="1508760" cy="1554480"/>
          </a:xfrm>
          <a:prstGeom prst="roundRect">
            <a:avLst>
              <a:gd name="adj" fmla="val 6061"/>
            </a:avLst>
          </a:prstGeom>
          <a:solidFill>
            <a:srgbClr val="F0FDF4"/>
          </a:solidFill>
          <a:ln/>
          <a:effectLst>
            <a:outerShdw sx="100000" sy="100000" kx="0" ky="0" algn="bl" rotWithShape="0" blurRad="76200" dist="25400" dir="2700000">
              <a:srgbClr val="000000">
                <a:alpha val="10000"/>
              </a:srgbClr>
            </a:outerShdw>
          </a:effectLst>
        </p:spPr>
      </p:sp>
      <p:sp>
        <p:nvSpPr>
          <p:cNvPr id="9" name="Text 7"/>
          <p:cNvSpPr/>
          <p:nvPr/>
        </p:nvSpPr>
        <p:spPr>
          <a:xfrm>
            <a:off x="1920240" y="1243584"/>
            <a:ext cx="1508760" cy="457200"/>
          </a:xfrm>
          <a:prstGeom prst="rect">
            <a:avLst/>
          </a:prstGeom>
          <a:noFill/>
          <a:ln/>
        </p:spPr>
        <p:txBody>
          <a:bodyPr wrap="square" rtlCol="0" anchor="ctr"/>
          <a:lstStyle/>
          <a:p>
            <a:pPr algn="ctr" indent="0" marL="0">
              <a:buNone/>
            </a:pPr>
            <a:r>
              <a:rPr lang="en-US" sz="1100" b="1" dirty="0">
                <a:solidFill>
                  <a:srgbClr val="15803D"/>
                </a:solidFill>
              </a:rPr>
              <a:t>Inception</a:t>
            </a:r>
            <a:endParaRPr lang="en-US" sz="1100" dirty="0"/>
          </a:p>
          <a:p>
            <a:pPr algn="ctr" indent="0" marL="0">
              <a:buNone/>
            </a:pPr>
            <a:r>
              <a:rPr lang="en-US" sz="1100" b="1" dirty="0">
                <a:solidFill>
                  <a:srgbClr val="15803D"/>
                </a:solidFill>
              </a:rPr>
              <a:t>Encoder</a:t>
            </a:r>
            <a:endParaRPr lang="en-US" sz="1100" dirty="0"/>
          </a:p>
        </p:txBody>
      </p:sp>
      <p:sp>
        <p:nvSpPr>
          <p:cNvPr id="10" name="Text 8"/>
          <p:cNvSpPr/>
          <p:nvPr/>
        </p:nvSpPr>
        <p:spPr>
          <a:xfrm>
            <a:off x="1920240" y="1719072"/>
            <a:ext cx="1508760" cy="822960"/>
          </a:xfrm>
          <a:prstGeom prst="rect">
            <a:avLst/>
          </a:prstGeom>
          <a:noFill/>
          <a:ln/>
        </p:spPr>
        <p:txBody>
          <a:bodyPr wrap="square" rtlCol="0" anchor="ctr"/>
          <a:lstStyle/>
          <a:p>
            <a:pPr algn="ctr" indent="0" marL="0">
              <a:buNone/>
            </a:pPr>
            <a:r>
              <a:rPr lang="en-US" sz="900" dirty="0">
                <a:solidFill>
                  <a:srgbClr val="64748B"/>
                </a:solidFill>
              </a:rPr>
              <a:t>Conv 3×3</a:t>
            </a:r>
            <a:endParaRPr lang="en-US" sz="900" dirty="0"/>
          </a:p>
          <a:p>
            <a:pPr algn="ctr" indent="0" marL="0">
              <a:buNone/>
            </a:pPr>
            <a:r>
              <a:rPr lang="en-US" sz="900" dirty="0">
                <a:solidFill>
                  <a:srgbClr val="64748B"/>
                </a:solidFill>
              </a:rPr>
              <a:t>+ Inception</a:t>
            </a:r>
            <a:endParaRPr lang="en-US" sz="900" dirty="0"/>
          </a:p>
          <a:p>
            <a:pPr algn="ctr" indent="0" marL="0">
              <a:buNone/>
            </a:pPr>
            <a:r>
              <a:rPr lang="en-US" sz="900" dirty="0">
                <a:solidFill>
                  <a:srgbClr val="64748B"/>
                </a:solidFill>
              </a:rPr>
              <a:t>Block (1,3,5,pool)</a:t>
            </a:r>
            <a:endParaRPr lang="en-US" sz="900" dirty="0"/>
          </a:p>
        </p:txBody>
      </p:sp>
      <p:sp>
        <p:nvSpPr>
          <p:cNvPr id="11" name="Text 9"/>
          <p:cNvSpPr/>
          <p:nvPr/>
        </p:nvSpPr>
        <p:spPr>
          <a:xfrm>
            <a:off x="3447288" y="1691640"/>
            <a:ext cx="228600" cy="365760"/>
          </a:xfrm>
          <a:prstGeom prst="rect">
            <a:avLst/>
          </a:prstGeom>
          <a:noFill/>
          <a:ln/>
        </p:spPr>
        <p:txBody>
          <a:bodyPr wrap="square" rtlCol="0" anchor="ctr"/>
          <a:lstStyle/>
          <a:p>
            <a:pPr algn="ctr" indent="0" marL="0">
              <a:buNone/>
            </a:pPr>
            <a:r>
              <a:rPr lang="en-US" sz="1600" dirty="0">
                <a:solidFill>
                  <a:srgbClr val="64748B"/>
                </a:solidFill>
              </a:rPr>
              <a:t>→</a:t>
            </a:r>
            <a:endParaRPr lang="en-US" sz="1600" dirty="0"/>
          </a:p>
        </p:txBody>
      </p:sp>
      <p:sp>
        <p:nvSpPr>
          <p:cNvPr id="12" name="Shape 10"/>
          <p:cNvSpPr/>
          <p:nvPr/>
        </p:nvSpPr>
        <p:spPr>
          <a:xfrm>
            <a:off x="3657600" y="1188720"/>
            <a:ext cx="1508760" cy="1554480"/>
          </a:xfrm>
          <a:prstGeom prst="roundRect">
            <a:avLst>
              <a:gd name="adj" fmla="val 6061"/>
            </a:avLst>
          </a:prstGeom>
          <a:solidFill>
            <a:srgbClr val="FEF3C7"/>
          </a:solidFill>
          <a:ln/>
          <a:effectLst>
            <a:outerShdw sx="100000" sy="100000" kx="0" ky="0" algn="bl" rotWithShape="0" blurRad="76200" dist="25400" dir="2700000">
              <a:srgbClr val="000000">
                <a:alpha val="10000"/>
              </a:srgbClr>
            </a:outerShdw>
          </a:effectLst>
        </p:spPr>
      </p:sp>
      <p:sp>
        <p:nvSpPr>
          <p:cNvPr id="13" name="Text 11"/>
          <p:cNvSpPr/>
          <p:nvPr/>
        </p:nvSpPr>
        <p:spPr>
          <a:xfrm>
            <a:off x="3657600" y="1243584"/>
            <a:ext cx="1508760" cy="457200"/>
          </a:xfrm>
          <a:prstGeom prst="rect">
            <a:avLst/>
          </a:prstGeom>
          <a:noFill/>
          <a:ln/>
        </p:spPr>
        <p:txBody>
          <a:bodyPr wrap="square" rtlCol="0" anchor="ctr"/>
          <a:lstStyle/>
          <a:p>
            <a:pPr algn="ctr" indent="0" marL="0">
              <a:buNone/>
            </a:pPr>
            <a:r>
              <a:rPr lang="en-US" sz="1100" b="1" dirty="0">
                <a:solidFill>
                  <a:srgbClr val="92400E"/>
                </a:solidFill>
              </a:rPr>
              <a:t>Tucker</a:t>
            </a:r>
            <a:endParaRPr lang="en-US" sz="1100" dirty="0"/>
          </a:p>
          <a:p>
            <a:pPr algn="ctr" indent="0" marL="0">
              <a:buNone/>
            </a:pPr>
            <a:r>
              <a:rPr lang="en-US" sz="1100" b="1" dirty="0">
                <a:solidFill>
                  <a:srgbClr val="92400E"/>
                </a:solidFill>
              </a:rPr>
              <a:t>Core G</a:t>
            </a:r>
            <a:endParaRPr lang="en-US" sz="1100" dirty="0"/>
          </a:p>
        </p:txBody>
      </p:sp>
      <p:sp>
        <p:nvSpPr>
          <p:cNvPr id="14" name="Text 12"/>
          <p:cNvSpPr/>
          <p:nvPr/>
        </p:nvSpPr>
        <p:spPr>
          <a:xfrm>
            <a:off x="3657600" y="1719072"/>
            <a:ext cx="1508760" cy="822960"/>
          </a:xfrm>
          <a:prstGeom prst="rect">
            <a:avLst/>
          </a:prstGeom>
          <a:noFill/>
          <a:ln/>
        </p:spPr>
        <p:txBody>
          <a:bodyPr wrap="square" rtlCol="0" anchor="ctr"/>
          <a:lstStyle/>
          <a:p>
            <a:pPr algn="ctr" indent="0" marL="0">
              <a:buNone/>
            </a:pPr>
            <a:r>
              <a:rPr lang="en-US" sz="900" dirty="0">
                <a:solidFill>
                  <a:srgbClr val="64748B"/>
                </a:solidFill>
              </a:rPr>
              <a:t>(B,16,16,8)</a:t>
            </a:r>
            <a:endParaRPr lang="en-US" sz="900" dirty="0"/>
          </a:p>
          <a:p>
            <a:pPr algn="ctr" indent="0" marL="0">
              <a:buNone/>
            </a:pPr>
            <a:r>
              <a:rPr lang="en-US" sz="900" dirty="0">
                <a:solidFill>
                  <a:srgbClr val="64748B"/>
                </a:solidFill>
              </a:rPr>
              <a:t>Adaptive</a:t>
            </a:r>
            <a:endParaRPr lang="en-US" sz="900" dirty="0"/>
          </a:p>
          <a:p>
            <a:pPr algn="ctr" indent="0" marL="0">
              <a:buNone/>
            </a:pPr>
            <a:r>
              <a:rPr lang="en-US" sz="900" dirty="0">
                <a:solidFill>
                  <a:srgbClr val="64748B"/>
                </a:solidFill>
              </a:rPr>
              <a:t>AvgPool</a:t>
            </a:r>
            <a:endParaRPr lang="en-US" sz="900" dirty="0"/>
          </a:p>
        </p:txBody>
      </p:sp>
      <p:sp>
        <p:nvSpPr>
          <p:cNvPr id="15" name="Text 13"/>
          <p:cNvSpPr/>
          <p:nvPr/>
        </p:nvSpPr>
        <p:spPr>
          <a:xfrm>
            <a:off x="5184648" y="1691640"/>
            <a:ext cx="228600" cy="365760"/>
          </a:xfrm>
          <a:prstGeom prst="rect">
            <a:avLst/>
          </a:prstGeom>
          <a:noFill/>
          <a:ln/>
        </p:spPr>
        <p:txBody>
          <a:bodyPr wrap="square" rtlCol="0" anchor="ctr"/>
          <a:lstStyle/>
          <a:p>
            <a:pPr algn="ctr" indent="0" marL="0">
              <a:buNone/>
            </a:pPr>
            <a:r>
              <a:rPr lang="en-US" sz="1600" dirty="0">
                <a:solidFill>
                  <a:srgbClr val="64748B"/>
                </a:solidFill>
              </a:rPr>
              <a:t>→</a:t>
            </a:r>
            <a:endParaRPr lang="en-US" sz="1600" dirty="0"/>
          </a:p>
        </p:txBody>
      </p:sp>
      <p:sp>
        <p:nvSpPr>
          <p:cNvPr id="16" name="Shape 14"/>
          <p:cNvSpPr/>
          <p:nvPr/>
        </p:nvSpPr>
        <p:spPr>
          <a:xfrm>
            <a:off x="5440680" y="1188720"/>
            <a:ext cx="1508760" cy="1554480"/>
          </a:xfrm>
          <a:prstGeom prst="roundRect">
            <a:avLst>
              <a:gd name="adj" fmla="val 6061"/>
            </a:avLst>
          </a:prstGeom>
          <a:solidFill>
            <a:srgbClr val="FDF4FF"/>
          </a:solidFill>
          <a:ln/>
          <a:effectLst>
            <a:outerShdw sx="100000" sy="100000" kx="0" ky="0" algn="bl" rotWithShape="0" blurRad="76200" dist="25400" dir="2700000">
              <a:srgbClr val="000000">
                <a:alpha val="10000"/>
              </a:srgbClr>
            </a:outerShdw>
          </a:effectLst>
        </p:spPr>
      </p:sp>
      <p:sp>
        <p:nvSpPr>
          <p:cNvPr id="17" name="Text 15"/>
          <p:cNvSpPr/>
          <p:nvPr/>
        </p:nvSpPr>
        <p:spPr>
          <a:xfrm>
            <a:off x="5440680" y="1243584"/>
            <a:ext cx="1508760" cy="457200"/>
          </a:xfrm>
          <a:prstGeom prst="rect">
            <a:avLst/>
          </a:prstGeom>
          <a:noFill/>
          <a:ln/>
        </p:spPr>
        <p:txBody>
          <a:bodyPr wrap="square" rtlCol="0" anchor="ctr"/>
          <a:lstStyle/>
          <a:p>
            <a:pPr algn="ctr" indent="0" marL="0">
              <a:buNone/>
            </a:pPr>
            <a:r>
              <a:rPr lang="en-US" sz="1100" b="1" dirty="0">
                <a:solidFill>
                  <a:srgbClr val="7C3AED"/>
                </a:solidFill>
              </a:rPr>
              <a:t>Upsample</a:t>
            </a:r>
            <a:endParaRPr lang="en-US" sz="1100" dirty="0"/>
          </a:p>
          <a:p>
            <a:pPr algn="ctr" indent="0" marL="0">
              <a:buNone/>
            </a:pPr>
            <a:r>
              <a:rPr lang="en-US" sz="1100" b="1" dirty="0">
                <a:solidFill>
                  <a:srgbClr val="7C3AED"/>
                </a:solidFill>
              </a:rPr>
              <a:t>Decoder</a:t>
            </a:r>
            <a:endParaRPr lang="en-US" sz="1100" dirty="0"/>
          </a:p>
        </p:txBody>
      </p:sp>
      <p:sp>
        <p:nvSpPr>
          <p:cNvPr id="18" name="Text 16"/>
          <p:cNvSpPr/>
          <p:nvPr/>
        </p:nvSpPr>
        <p:spPr>
          <a:xfrm>
            <a:off x="5440680" y="1719072"/>
            <a:ext cx="1508760" cy="822960"/>
          </a:xfrm>
          <a:prstGeom prst="rect">
            <a:avLst/>
          </a:prstGeom>
          <a:noFill/>
          <a:ln/>
        </p:spPr>
        <p:txBody>
          <a:bodyPr wrap="square" rtlCol="0" anchor="ctr"/>
          <a:lstStyle/>
          <a:p>
            <a:pPr algn="ctr" indent="0" marL="0">
              <a:buNone/>
            </a:pPr>
            <a:r>
              <a:rPr lang="en-US" sz="900" dirty="0">
                <a:solidFill>
                  <a:srgbClr val="64748B"/>
                </a:solidFill>
              </a:rPr>
              <a:t>×3 Bilinéaire</a:t>
            </a:r>
            <a:endParaRPr lang="en-US" sz="900" dirty="0"/>
          </a:p>
          <a:p>
            <a:pPr algn="ctr" indent="0" marL="0">
              <a:buNone/>
            </a:pPr>
            <a:r>
              <a:rPr lang="en-US" sz="900" dirty="0">
                <a:solidFill>
                  <a:srgbClr val="64748B"/>
                </a:solidFill>
              </a:rPr>
              <a:t>+ Conv</a:t>
            </a:r>
            <a:endParaRPr lang="en-US" sz="900" dirty="0"/>
          </a:p>
          <a:p>
            <a:pPr algn="ctr" indent="0" marL="0">
              <a:buNone/>
            </a:pPr>
            <a:r>
              <a:rPr lang="en-US" sz="900" dirty="0">
                <a:solidFill>
                  <a:srgbClr val="64748B"/>
                </a:solidFill>
              </a:rPr>
              <a:t>×5 Bilinéaire</a:t>
            </a:r>
            <a:endParaRPr lang="en-US" sz="900" dirty="0"/>
          </a:p>
        </p:txBody>
      </p:sp>
      <p:sp>
        <p:nvSpPr>
          <p:cNvPr id="19" name="Text 17"/>
          <p:cNvSpPr/>
          <p:nvPr/>
        </p:nvSpPr>
        <p:spPr>
          <a:xfrm>
            <a:off x="6967728" y="1691640"/>
            <a:ext cx="228600" cy="365760"/>
          </a:xfrm>
          <a:prstGeom prst="rect">
            <a:avLst/>
          </a:prstGeom>
          <a:noFill/>
          <a:ln/>
        </p:spPr>
        <p:txBody>
          <a:bodyPr wrap="square" rtlCol="0" anchor="ctr"/>
          <a:lstStyle/>
          <a:p>
            <a:pPr algn="ctr" indent="0" marL="0">
              <a:buNone/>
            </a:pPr>
            <a:r>
              <a:rPr lang="en-US" sz="1600" dirty="0">
                <a:solidFill>
                  <a:srgbClr val="64748B"/>
                </a:solidFill>
              </a:rPr>
              <a:t>→</a:t>
            </a:r>
            <a:endParaRPr lang="en-US" sz="1600" dirty="0"/>
          </a:p>
        </p:txBody>
      </p:sp>
      <p:sp>
        <p:nvSpPr>
          <p:cNvPr id="20" name="Shape 18"/>
          <p:cNvSpPr/>
          <p:nvPr/>
        </p:nvSpPr>
        <p:spPr>
          <a:xfrm>
            <a:off x="7406640" y="1188720"/>
            <a:ext cx="1417320" cy="1554480"/>
          </a:xfrm>
          <a:prstGeom prst="roundRect">
            <a:avLst>
              <a:gd name="adj" fmla="val 6452"/>
            </a:avLst>
          </a:prstGeom>
          <a:solidFill>
            <a:srgbClr val="ECFDF5"/>
          </a:solidFill>
          <a:ln/>
          <a:effectLst>
            <a:outerShdw sx="100000" sy="100000" kx="0" ky="0" algn="bl" rotWithShape="0" blurRad="76200" dist="25400" dir="2700000">
              <a:srgbClr val="000000">
                <a:alpha val="10000"/>
              </a:srgbClr>
            </a:outerShdw>
          </a:effectLst>
        </p:spPr>
      </p:sp>
      <p:sp>
        <p:nvSpPr>
          <p:cNvPr id="21" name="Text 19"/>
          <p:cNvSpPr/>
          <p:nvPr/>
        </p:nvSpPr>
        <p:spPr>
          <a:xfrm>
            <a:off x="7406640" y="1243584"/>
            <a:ext cx="1417320" cy="457200"/>
          </a:xfrm>
          <a:prstGeom prst="rect">
            <a:avLst/>
          </a:prstGeom>
          <a:noFill/>
          <a:ln/>
        </p:spPr>
        <p:txBody>
          <a:bodyPr wrap="square" rtlCol="0" anchor="ctr"/>
          <a:lstStyle/>
          <a:p>
            <a:pPr algn="ctr" indent="0" marL="0">
              <a:buNone/>
            </a:pPr>
            <a:r>
              <a:rPr lang="en-US" sz="1100" b="1" dirty="0">
                <a:solidFill>
                  <a:srgbClr val="065F46"/>
                </a:solidFill>
              </a:rPr>
              <a:t>HSI</a:t>
            </a:r>
            <a:endParaRPr lang="en-US" sz="1100" dirty="0"/>
          </a:p>
          <a:p>
            <a:pPr algn="ctr" indent="0" marL="0">
              <a:buNone/>
            </a:pPr>
            <a:r>
              <a:rPr lang="en-US" sz="1100" b="1" dirty="0">
                <a:solidFill>
                  <a:srgbClr val="065F46"/>
                </a:solidFill>
              </a:rPr>
              <a:t>Reconst.</a:t>
            </a:r>
            <a:endParaRPr lang="en-US" sz="1100" dirty="0"/>
          </a:p>
        </p:txBody>
      </p:sp>
      <p:sp>
        <p:nvSpPr>
          <p:cNvPr id="22" name="Text 20"/>
          <p:cNvSpPr/>
          <p:nvPr/>
        </p:nvSpPr>
        <p:spPr>
          <a:xfrm>
            <a:off x="7406640" y="1719072"/>
            <a:ext cx="1417320" cy="822960"/>
          </a:xfrm>
          <a:prstGeom prst="rect">
            <a:avLst/>
          </a:prstGeom>
          <a:noFill/>
          <a:ln/>
        </p:spPr>
        <p:txBody>
          <a:bodyPr wrap="square" rtlCol="0" anchor="ctr"/>
          <a:lstStyle/>
          <a:p>
            <a:pPr algn="ctr" indent="0" marL="0">
              <a:buNone/>
            </a:pPr>
            <a:r>
              <a:rPr lang="en-US" sz="900" dirty="0">
                <a:solidFill>
                  <a:srgbClr val="64748B"/>
                </a:solidFill>
              </a:rPr>
              <a:t>(B,240,240</a:t>
            </a:r>
            <a:endParaRPr lang="en-US" sz="900" dirty="0"/>
          </a:p>
          <a:p>
            <a:pPr algn="ctr" indent="0" marL="0">
              <a:buNone/>
            </a:pPr>
            <a:r>
              <a:rPr lang="en-US" sz="900" dirty="0">
                <a:solidFill>
                  <a:srgbClr val="64748B"/>
                </a:solidFill>
              </a:rPr>
              <a:t>,103)</a:t>
            </a:r>
            <a:endParaRPr lang="en-US" sz="900" dirty="0"/>
          </a:p>
          <a:p>
            <a:pPr algn="ctr" indent="0" marL="0">
              <a:buNone/>
            </a:pPr>
            <a:r>
              <a:rPr lang="en-US" sz="900" dirty="0">
                <a:solidFill>
                  <a:srgbClr val="64748B"/>
                </a:solidFill>
              </a:rPr>
              <a:t>Sigmoïd</a:t>
            </a:r>
            <a:endParaRPr lang="en-US" sz="900" dirty="0"/>
          </a:p>
        </p:txBody>
      </p:sp>
      <p:sp>
        <p:nvSpPr>
          <p:cNvPr id="23" name="Shape 21"/>
          <p:cNvSpPr/>
          <p:nvPr/>
        </p:nvSpPr>
        <p:spPr>
          <a:xfrm>
            <a:off x="228600" y="2926080"/>
            <a:ext cx="8686800" cy="1508760"/>
          </a:xfrm>
          <a:prstGeom prst="roundRect">
            <a:avLst>
              <a:gd name="adj" fmla="val 6061"/>
            </a:avLst>
          </a:prstGeom>
          <a:solidFill>
            <a:srgbClr val="EFF6FF"/>
          </a:solidFill>
          <a:ln/>
          <a:effectLst>
            <a:outerShdw sx="100000" sy="100000" kx="0" ky="0" algn="bl" rotWithShape="0" blurRad="50800" dist="12700" dir="2700000">
              <a:srgbClr val="000000">
                <a:alpha val="8000"/>
              </a:srgbClr>
            </a:outerShdw>
          </a:effectLst>
        </p:spPr>
      </p:sp>
      <p:sp>
        <p:nvSpPr>
          <p:cNvPr id="24" name="Text 22"/>
          <p:cNvSpPr/>
          <p:nvPr/>
        </p:nvSpPr>
        <p:spPr>
          <a:xfrm>
            <a:off x="365760" y="2999232"/>
            <a:ext cx="3657600" cy="347472"/>
          </a:xfrm>
          <a:prstGeom prst="rect">
            <a:avLst/>
          </a:prstGeom>
          <a:noFill/>
          <a:ln/>
        </p:spPr>
        <p:txBody>
          <a:bodyPr wrap="square" rtlCol="0" anchor="ctr"/>
          <a:lstStyle/>
          <a:p>
            <a:pPr indent="0" marL="0">
              <a:buNone/>
            </a:pPr>
            <a:r>
              <a:rPr lang="en-US" sz="1300" b="1" dirty="0">
                <a:solidFill>
                  <a:srgbClr val="065A82"/>
                </a:solidFill>
              </a:rPr>
              <a:t>Contraintes Physiques Intégrées</a:t>
            </a:r>
            <a:endParaRPr lang="en-US" sz="1300" dirty="0"/>
          </a:p>
        </p:txBody>
      </p:sp>
      <p:sp>
        <p:nvSpPr>
          <p:cNvPr id="25" name="Shape 23"/>
          <p:cNvSpPr/>
          <p:nvPr/>
        </p:nvSpPr>
        <p:spPr>
          <a:xfrm>
            <a:off x="320040" y="3364992"/>
            <a:ext cx="2743200" cy="960120"/>
          </a:xfrm>
          <a:prstGeom prst="roundRect">
            <a:avLst>
              <a:gd name="adj" fmla="val 6667"/>
            </a:avLst>
          </a:prstGeom>
          <a:solidFill>
            <a:srgbClr val="FFFFFF"/>
          </a:solidFill>
          <a:ln/>
          <a:effectLst>
            <a:outerShdw sx="100000" sy="100000" kx="0" ky="0" algn="bl" rotWithShape="0" blurRad="50800" dist="12700" dir="2700000">
              <a:srgbClr val="000000">
                <a:alpha val="7000"/>
              </a:srgbClr>
            </a:outerShdw>
          </a:effectLst>
        </p:spPr>
      </p:sp>
      <p:sp>
        <p:nvSpPr>
          <p:cNvPr id="26" name="Text 24"/>
          <p:cNvSpPr/>
          <p:nvPr/>
        </p:nvSpPr>
        <p:spPr>
          <a:xfrm>
            <a:off x="411480" y="3401568"/>
            <a:ext cx="2560320" cy="320040"/>
          </a:xfrm>
          <a:prstGeom prst="rect">
            <a:avLst/>
          </a:prstGeom>
          <a:noFill/>
          <a:ln/>
        </p:spPr>
        <p:txBody>
          <a:bodyPr wrap="square" rtlCol="0" anchor="ctr"/>
          <a:lstStyle/>
          <a:p>
            <a:pPr indent="0" marL="0">
              <a:buNone/>
            </a:pPr>
            <a:r>
              <a:rPr lang="en-US" sz="1000" b="1" dirty="0">
                <a:solidFill>
                  <a:srgbClr val="065A82"/>
                </a:solidFill>
              </a:rPr>
              <a:t>PSF Spatiale (P_h, P_w)</a:t>
            </a:r>
            <a:endParaRPr lang="en-US" sz="1000" dirty="0"/>
          </a:p>
        </p:txBody>
      </p:sp>
      <p:sp>
        <p:nvSpPr>
          <p:cNvPr id="27" name="Text 25"/>
          <p:cNvSpPr/>
          <p:nvPr/>
        </p:nvSpPr>
        <p:spPr>
          <a:xfrm>
            <a:off x="411480" y="3721608"/>
            <a:ext cx="2560320" cy="502920"/>
          </a:xfrm>
          <a:prstGeom prst="rect">
            <a:avLst/>
          </a:prstGeom>
          <a:noFill/>
          <a:ln/>
        </p:spPr>
        <p:txBody>
          <a:bodyPr wrap="square" rtlCol="0" anchor="ctr"/>
          <a:lstStyle/>
          <a:p>
            <a:pPr indent="0" marL="0">
              <a:buNone/>
            </a:pPr>
            <a:r>
              <a:rPr lang="en-US" sz="900" dirty="0">
                <a:solidFill>
                  <a:srgbClr val="64748B"/>
                </a:solidFill>
              </a:rPr>
              <a:t>Dégradation gaussienne simulant</a:t>
            </a:r>
            <a:endParaRPr lang="en-US" sz="900" dirty="0"/>
          </a:p>
          <a:p>
            <a:pPr indent="0" marL="0">
              <a:buNone/>
            </a:pPr>
            <a:r>
              <a:rPr lang="en-US" sz="900" dirty="0">
                <a:solidFill>
                  <a:srgbClr val="64748B"/>
                </a:solidFill>
              </a:rPr>
              <a:t>le facteur d'échelle S3 (×30)</a:t>
            </a:r>
            <a:endParaRPr lang="en-US" sz="900" dirty="0"/>
          </a:p>
        </p:txBody>
      </p:sp>
      <p:sp>
        <p:nvSpPr>
          <p:cNvPr id="28" name="Shape 26"/>
          <p:cNvSpPr/>
          <p:nvPr/>
        </p:nvSpPr>
        <p:spPr>
          <a:xfrm>
            <a:off x="3200400" y="3364992"/>
            <a:ext cx="2743200" cy="960120"/>
          </a:xfrm>
          <a:prstGeom prst="roundRect">
            <a:avLst>
              <a:gd name="adj" fmla="val 6667"/>
            </a:avLst>
          </a:prstGeom>
          <a:solidFill>
            <a:srgbClr val="FFFFFF"/>
          </a:solidFill>
          <a:ln/>
          <a:effectLst>
            <a:outerShdw sx="100000" sy="100000" kx="0" ky="0" algn="bl" rotWithShape="0" blurRad="50800" dist="12700" dir="2700000">
              <a:srgbClr val="000000">
                <a:alpha val="7000"/>
              </a:srgbClr>
            </a:outerShdw>
          </a:effectLst>
        </p:spPr>
      </p:sp>
      <p:sp>
        <p:nvSpPr>
          <p:cNvPr id="29" name="Text 27"/>
          <p:cNvSpPr/>
          <p:nvPr/>
        </p:nvSpPr>
        <p:spPr>
          <a:xfrm>
            <a:off x="3291840" y="3401568"/>
            <a:ext cx="2560320" cy="320040"/>
          </a:xfrm>
          <a:prstGeom prst="rect">
            <a:avLst/>
          </a:prstGeom>
          <a:noFill/>
          <a:ln/>
        </p:spPr>
        <p:txBody>
          <a:bodyPr wrap="square" rtlCol="0" anchor="ctr"/>
          <a:lstStyle/>
          <a:p>
            <a:pPr indent="0" marL="0">
              <a:buNone/>
            </a:pPr>
            <a:r>
              <a:rPr lang="en-US" sz="1000" b="1" dirty="0">
                <a:solidFill>
                  <a:srgbClr val="065A82"/>
                </a:solidFill>
              </a:rPr>
              <a:t>SRF Spectrale (R_S2, R_S3)</a:t>
            </a:r>
            <a:endParaRPr lang="en-US" sz="1000" dirty="0"/>
          </a:p>
        </p:txBody>
      </p:sp>
      <p:sp>
        <p:nvSpPr>
          <p:cNvPr id="30" name="Text 28"/>
          <p:cNvSpPr/>
          <p:nvPr/>
        </p:nvSpPr>
        <p:spPr>
          <a:xfrm>
            <a:off x="3291840" y="3721608"/>
            <a:ext cx="2560320" cy="502920"/>
          </a:xfrm>
          <a:prstGeom prst="rect">
            <a:avLst/>
          </a:prstGeom>
          <a:noFill/>
          <a:ln/>
        </p:spPr>
        <p:txBody>
          <a:bodyPr wrap="square" rtlCol="0" anchor="ctr"/>
          <a:lstStyle/>
          <a:p>
            <a:pPr indent="0" marL="0">
              <a:buNone/>
            </a:pPr>
            <a:r>
              <a:rPr lang="en-US" sz="900" dirty="0">
                <a:solidFill>
                  <a:srgbClr val="64748B"/>
                </a:solidFill>
              </a:rPr>
              <a:t>Réponse spectrale de chaque capteur</a:t>
            </a:r>
            <a:endParaRPr lang="en-US" sz="900" dirty="0"/>
          </a:p>
          <a:p>
            <a:pPr indent="0" marL="0">
              <a:buNone/>
            </a:pPr>
            <a:r>
              <a:rPr lang="en-US" sz="900" dirty="0">
                <a:solidFill>
                  <a:srgbClr val="64748B"/>
                </a:solidFill>
              </a:rPr>
              <a:t>pour les bandes S2 et S3</a:t>
            </a:r>
            <a:endParaRPr lang="en-US" sz="900" dirty="0"/>
          </a:p>
        </p:txBody>
      </p:sp>
      <p:sp>
        <p:nvSpPr>
          <p:cNvPr id="31" name="Shape 29"/>
          <p:cNvSpPr/>
          <p:nvPr/>
        </p:nvSpPr>
        <p:spPr>
          <a:xfrm>
            <a:off x="6080760" y="3364992"/>
            <a:ext cx="2743200" cy="960120"/>
          </a:xfrm>
          <a:prstGeom prst="roundRect">
            <a:avLst>
              <a:gd name="adj" fmla="val 6667"/>
            </a:avLst>
          </a:prstGeom>
          <a:solidFill>
            <a:srgbClr val="FFFFFF"/>
          </a:solidFill>
          <a:ln/>
          <a:effectLst>
            <a:outerShdw sx="100000" sy="100000" kx="0" ky="0" algn="bl" rotWithShape="0" blurRad="50800" dist="12700" dir="2700000">
              <a:srgbClr val="000000">
                <a:alpha val="7000"/>
              </a:srgbClr>
            </a:outerShdw>
          </a:effectLst>
        </p:spPr>
      </p:sp>
      <p:sp>
        <p:nvSpPr>
          <p:cNvPr id="32" name="Text 30"/>
          <p:cNvSpPr/>
          <p:nvPr/>
        </p:nvSpPr>
        <p:spPr>
          <a:xfrm>
            <a:off x="6172200" y="3401568"/>
            <a:ext cx="2560320" cy="320040"/>
          </a:xfrm>
          <a:prstGeom prst="rect">
            <a:avLst/>
          </a:prstGeom>
          <a:noFill/>
          <a:ln/>
        </p:spPr>
        <p:txBody>
          <a:bodyPr wrap="square" rtlCol="0" anchor="ctr"/>
          <a:lstStyle/>
          <a:p>
            <a:pPr indent="0" marL="0">
              <a:buNone/>
            </a:pPr>
            <a:r>
              <a:rPr lang="en-US" sz="1000" b="1" dirty="0">
                <a:solidFill>
                  <a:srgbClr val="065A82"/>
                </a:solidFill>
              </a:rPr>
              <a:t>Régularisation L1 (G)</a:t>
            </a:r>
            <a:endParaRPr lang="en-US" sz="1000" dirty="0"/>
          </a:p>
        </p:txBody>
      </p:sp>
      <p:sp>
        <p:nvSpPr>
          <p:cNvPr id="33" name="Text 31"/>
          <p:cNvSpPr/>
          <p:nvPr/>
        </p:nvSpPr>
        <p:spPr>
          <a:xfrm>
            <a:off x="6172200" y="3721608"/>
            <a:ext cx="2560320" cy="502920"/>
          </a:xfrm>
          <a:prstGeom prst="rect">
            <a:avLst/>
          </a:prstGeom>
          <a:noFill/>
          <a:ln/>
        </p:spPr>
        <p:txBody>
          <a:bodyPr wrap="square" rtlCol="0" anchor="ctr"/>
          <a:lstStyle/>
          <a:p>
            <a:pPr indent="0" marL="0">
              <a:buNone/>
            </a:pPr>
            <a:r>
              <a:rPr lang="en-US" sz="900" dirty="0">
                <a:solidFill>
                  <a:srgbClr val="64748B"/>
                </a:solidFill>
              </a:rPr>
              <a:t>Parcimonie du tenseur cœur</a:t>
            </a:r>
            <a:endParaRPr lang="en-US" sz="900" dirty="0"/>
          </a:p>
          <a:p>
            <a:pPr indent="0" marL="0">
              <a:buNone/>
            </a:pPr>
            <a:r>
              <a:rPr lang="en-US" sz="900" dirty="0">
                <a:solidFill>
                  <a:srgbClr val="64748B"/>
                </a:solidFill>
              </a:rPr>
              <a:t>pour une représentation compacte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56032"/>
            <a:ext cx="8229600" cy="475488"/>
          </a:xfrm>
          <a:prstGeom prst="rect">
            <a:avLst/>
          </a:prstGeom>
          <a:noFill/>
          <a:ln/>
        </p:spPr>
        <p:txBody>
          <a:bodyPr wrap="square"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Innovations v3 – NL-JTAE</a:t>
            </a:r>
            <a:endParaRPr lang="en-US" sz="2600" dirty="0"/>
          </a:p>
        </p:txBody>
      </p:sp>
      <p:sp>
        <p:nvSpPr>
          <p:cNvPr id="3" name="Text 1"/>
          <p:cNvSpPr/>
          <p:nvPr/>
        </p:nvSpPr>
        <p:spPr>
          <a:xfrm>
            <a:off x="457200" y="749808"/>
            <a:ext cx="8229600" cy="274320"/>
          </a:xfrm>
          <a:prstGeom prst="rect">
            <a:avLst/>
          </a:prstGeom>
          <a:noFill/>
          <a:ln/>
        </p:spPr>
        <p:txBody>
          <a:bodyPr wrap="square" rtlCol="0" anchor="ctr"/>
          <a:lstStyle/>
          <a:p>
            <a:pPr indent="0" marL="0">
              <a:buNone/>
            </a:pPr>
            <a:r>
              <a:rPr lang="en-US" sz="1100" i="1" dirty="0">
                <a:solidFill>
                  <a:srgbClr val="8BACC8"/>
                </a:solidFill>
              </a:rPr>
              <a:t>Trois améliorations architecturales majeures par rapport à v2</a:t>
            </a:r>
            <a:endParaRPr lang="en-US" sz="1100" dirty="0"/>
          </a:p>
        </p:txBody>
      </p:sp>
      <p:sp>
        <p:nvSpPr>
          <p:cNvPr id="4" name="Shape 2"/>
          <p:cNvSpPr/>
          <p:nvPr/>
        </p:nvSpPr>
        <p:spPr>
          <a:xfrm>
            <a:off x="274320" y="1188720"/>
            <a:ext cx="2834640" cy="3611880"/>
          </a:xfrm>
          <a:prstGeom prst="roundRect">
            <a:avLst>
              <a:gd name="adj" fmla="val 4516"/>
            </a:avLst>
          </a:prstGeom>
          <a:solidFill>
            <a:srgbClr val="0D2A3A"/>
          </a:solidFill>
          <a:ln/>
          <a:effectLst>
            <a:outerShdw sx="100000" sy="100000" kx="0" ky="0" algn="bl" rotWithShape="0" blurRad="152400" dist="50800" dir="2700000">
              <a:srgbClr val="00C2CB">
                <a:alpha val="25000"/>
              </a:srgbClr>
            </a:outerShdw>
          </a:effectLst>
        </p:spPr>
      </p:sp>
      <p:sp>
        <p:nvSpPr>
          <p:cNvPr id="5" name="Shape 3"/>
          <p:cNvSpPr/>
          <p:nvPr/>
        </p:nvSpPr>
        <p:spPr>
          <a:xfrm>
            <a:off x="1371600" y="1051560"/>
            <a:ext cx="658368" cy="658368"/>
          </a:xfrm>
          <a:prstGeom prst="ellipse">
            <a:avLst/>
          </a:prstGeom>
          <a:solidFill>
            <a:srgbClr val="00C2CB"/>
          </a:solidFill>
          <a:ln/>
        </p:spPr>
      </p:sp>
      <p:sp>
        <p:nvSpPr>
          <p:cNvPr id="6" name="Text 4"/>
          <p:cNvSpPr/>
          <p:nvPr/>
        </p:nvSpPr>
        <p:spPr>
          <a:xfrm>
            <a:off x="1371600" y="1051560"/>
            <a:ext cx="658368" cy="658368"/>
          </a:xfrm>
          <a:prstGeom prst="rect">
            <a:avLst/>
          </a:prstGeom>
          <a:noFill/>
          <a:ln/>
        </p:spPr>
        <p:txBody>
          <a:bodyPr wrap="square" lIns="0" tIns="0" rIns="0" bIns="0" rtlCol="0" anchor="ctr"/>
          <a:lstStyle/>
          <a:p>
            <a:pPr algn="ctr" indent="0" marL="0">
              <a:buNone/>
            </a:pPr>
            <a:r>
              <a:rPr lang="en-US" sz="1400" b="1" dirty="0">
                <a:solidFill>
                  <a:srgbClr val="0A1628"/>
                </a:solidFill>
              </a:rPr>
              <a:t>01</a:t>
            </a:r>
            <a:endParaRPr lang="en-US" sz="1400" dirty="0"/>
          </a:p>
        </p:txBody>
      </p:sp>
      <p:sp>
        <p:nvSpPr>
          <p:cNvPr id="7" name="Text 5"/>
          <p:cNvSpPr/>
          <p:nvPr/>
        </p:nvSpPr>
        <p:spPr>
          <a:xfrm>
            <a:off x="274320" y="1828800"/>
            <a:ext cx="2834640" cy="594360"/>
          </a:xfrm>
          <a:prstGeom prst="rect">
            <a:avLst/>
          </a:prstGeom>
          <a:noFill/>
          <a:ln/>
        </p:spPr>
        <p:txBody>
          <a:bodyPr wrap="square" rtlCol="0" anchor="ctr"/>
          <a:lstStyle/>
          <a:p>
            <a:pPr algn="ctr" indent="0" marL="0">
              <a:buNone/>
            </a:pPr>
            <a:r>
              <a:rPr lang="en-US" sz="1200" b="1" dirty="0">
                <a:solidFill>
                  <a:srgbClr val="00C2CB"/>
                </a:solidFill>
              </a:rPr>
              <a:t>Skip Connections</a:t>
            </a:r>
            <a:endParaRPr lang="en-US" sz="1200" dirty="0"/>
          </a:p>
          <a:p>
            <a:pPr algn="ctr" indent="0" marL="0">
              <a:buNone/>
            </a:pPr>
            <a:r>
              <a:rPr lang="en-US" sz="1200" b="1" dirty="0">
                <a:solidFill>
                  <a:srgbClr val="00C2CB"/>
                </a:solidFill>
              </a:rPr>
              <a:t>(Style UNet)</a:t>
            </a:r>
            <a:endParaRPr lang="en-US" sz="1200" dirty="0"/>
          </a:p>
        </p:txBody>
      </p:sp>
      <p:sp>
        <p:nvSpPr>
          <p:cNvPr id="8" name="Text 6"/>
          <p:cNvSpPr/>
          <p:nvPr/>
        </p:nvSpPr>
        <p:spPr>
          <a:xfrm>
            <a:off x="411480" y="2514600"/>
            <a:ext cx="2560320" cy="438912"/>
          </a:xfrm>
          <a:prstGeom prst="rect">
            <a:avLst/>
          </a:prstGeom>
          <a:noFill/>
          <a:ln/>
        </p:spPr>
        <p:txBody>
          <a:bodyPr wrap="square" rtlCol="0" anchor="ctr"/>
          <a:lstStyle/>
          <a:p>
            <a:pPr indent="0" marL="0">
              <a:buNone/>
            </a:pPr>
            <a:r>
              <a:rPr lang="en-US" sz="950" dirty="0">
                <a:solidFill>
                  <a:srgbClr val="E8F4FD"/>
                </a:solidFill>
              </a:rPr>
              <a:t>– Connexions résiduelles de l'encodeur vers le décodeur</a:t>
            </a:r>
            <a:endParaRPr lang="en-US" sz="950" dirty="0"/>
          </a:p>
        </p:txBody>
      </p:sp>
      <p:sp>
        <p:nvSpPr>
          <p:cNvPr id="9" name="Text 7"/>
          <p:cNvSpPr/>
          <p:nvPr/>
        </p:nvSpPr>
        <p:spPr>
          <a:xfrm>
            <a:off x="411480" y="3008376"/>
            <a:ext cx="2560320" cy="438912"/>
          </a:xfrm>
          <a:prstGeom prst="rect">
            <a:avLst/>
          </a:prstGeom>
          <a:noFill/>
          <a:ln/>
        </p:spPr>
        <p:txBody>
          <a:bodyPr wrap="square" rtlCol="0" anchor="ctr"/>
          <a:lstStyle/>
          <a:p>
            <a:pPr indent="0" marL="0">
              <a:buNone/>
            </a:pPr>
            <a:r>
              <a:rPr lang="en-US" sz="950" dirty="0">
                <a:solidFill>
                  <a:srgbClr val="E8F4FD"/>
                </a:solidFill>
              </a:rPr>
              <a:t>– feat_240 et feat_48 transmises au décodeur</a:t>
            </a:r>
            <a:endParaRPr lang="en-US" sz="950" dirty="0"/>
          </a:p>
        </p:txBody>
      </p:sp>
      <p:sp>
        <p:nvSpPr>
          <p:cNvPr id="10" name="Text 8"/>
          <p:cNvSpPr/>
          <p:nvPr/>
        </p:nvSpPr>
        <p:spPr>
          <a:xfrm>
            <a:off x="411480" y="3502152"/>
            <a:ext cx="2560320" cy="438912"/>
          </a:xfrm>
          <a:prstGeom prst="rect">
            <a:avLst/>
          </a:prstGeom>
          <a:noFill/>
          <a:ln/>
        </p:spPr>
        <p:txBody>
          <a:bodyPr wrap="square" rtlCol="0" anchor="ctr"/>
          <a:lstStyle/>
          <a:p>
            <a:pPr indent="0" marL="0">
              <a:buNone/>
            </a:pPr>
            <a:r>
              <a:rPr lang="en-US" sz="950" dirty="0">
                <a:solidFill>
                  <a:srgbClr val="E8F4FD"/>
                </a:solidFill>
              </a:rPr>
              <a:t>– Préserve les détails haute fréquence (contours, textures)</a:t>
            </a:r>
            <a:endParaRPr lang="en-US" sz="950" dirty="0"/>
          </a:p>
        </p:txBody>
      </p:sp>
      <p:sp>
        <p:nvSpPr>
          <p:cNvPr id="11" name="Text 9"/>
          <p:cNvSpPr/>
          <p:nvPr/>
        </p:nvSpPr>
        <p:spPr>
          <a:xfrm>
            <a:off x="411480" y="3995928"/>
            <a:ext cx="2560320" cy="438912"/>
          </a:xfrm>
          <a:prstGeom prst="rect">
            <a:avLst/>
          </a:prstGeom>
          <a:noFill/>
          <a:ln/>
        </p:spPr>
        <p:txBody>
          <a:bodyPr wrap="square" rtlCol="0" anchor="ctr"/>
          <a:lstStyle/>
          <a:p>
            <a:pPr indent="0" marL="0">
              <a:buNone/>
            </a:pPr>
            <a:r>
              <a:rPr lang="en-US" sz="950" dirty="0">
                <a:solidFill>
                  <a:srgbClr val="E8F4FD"/>
                </a:solidFill>
              </a:rPr>
              <a:t>– Résout le problème de disparition du gradient</a:t>
            </a:r>
            <a:endParaRPr lang="en-US" sz="950" dirty="0"/>
          </a:p>
        </p:txBody>
      </p:sp>
      <p:sp>
        <p:nvSpPr>
          <p:cNvPr id="12" name="Shape 10"/>
          <p:cNvSpPr/>
          <p:nvPr/>
        </p:nvSpPr>
        <p:spPr>
          <a:xfrm>
            <a:off x="3218688" y="1188720"/>
            <a:ext cx="2834640" cy="3611880"/>
          </a:xfrm>
          <a:prstGeom prst="roundRect">
            <a:avLst>
              <a:gd name="adj" fmla="val 4516"/>
            </a:avLst>
          </a:prstGeom>
          <a:solidFill>
            <a:srgbClr val="2A1A0A"/>
          </a:solidFill>
          <a:ln/>
          <a:effectLst>
            <a:outerShdw sx="100000" sy="100000" kx="0" ky="0" algn="bl" rotWithShape="0" blurRad="152400" dist="50800" dir="2700000">
              <a:srgbClr val="F59E0B">
                <a:alpha val="25000"/>
              </a:srgbClr>
            </a:outerShdw>
          </a:effectLst>
        </p:spPr>
      </p:sp>
      <p:sp>
        <p:nvSpPr>
          <p:cNvPr id="13" name="Shape 11"/>
          <p:cNvSpPr/>
          <p:nvPr/>
        </p:nvSpPr>
        <p:spPr>
          <a:xfrm>
            <a:off x="4315968" y="1051560"/>
            <a:ext cx="658368" cy="658368"/>
          </a:xfrm>
          <a:prstGeom prst="ellipse">
            <a:avLst/>
          </a:prstGeom>
          <a:solidFill>
            <a:srgbClr val="F59E0B"/>
          </a:solidFill>
          <a:ln/>
        </p:spPr>
      </p:sp>
      <p:sp>
        <p:nvSpPr>
          <p:cNvPr id="14" name="Text 12"/>
          <p:cNvSpPr/>
          <p:nvPr/>
        </p:nvSpPr>
        <p:spPr>
          <a:xfrm>
            <a:off x="4315968" y="1051560"/>
            <a:ext cx="658368" cy="658368"/>
          </a:xfrm>
          <a:prstGeom prst="rect">
            <a:avLst/>
          </a:prstGeom>
          <a:noFill/>
          <a:ln/>
        </p:spPr>
        <p:txBody>
          <a:bodyPr wrap="square" lIns="0" tIns="0" rIns="0" bIns="0" rtlCol="0" anchor="ctr"/>
          <a:lstStyle/>
          <a:p>
            <a:pPr algn="ctr" indent="0" marL="0">
              <a:buNone/>
            </a:pPr>
            <a:r>
              <a:rPr lang="en-US" sz="1400" b="1" dirty="0">
                <a:solidFill>
                  <a:srgbClr val="0A1628"/>
                </a:solidFill>
              </a:rPr>
              <a:t>02</a:t>
            </a:r>
            <a:endParaRPr lang="en-US" sz="1400" dirty="0"/>
          </a:p>
        </p:txBody>
      </p:sp>
      <p:sp>
        <p:nvSpPr>
          <p:cNvPr id="15" name="Text 13"/>
          <p:cNvSpPr/>
          <p:nvPr/>
        </p:nvSpPr>
        <p:spPr>
          <a:xfrm>
            <a:off x="3218688" y="1828800"/>
            <a:ext cx="2834640" cy="594360"/>
          </a:xfrm>
          <a:prstGeom prst="rect">
            <a:avLst/>
          </a:prstGeom>
          <a:noFill/>
          <a:ln/>
        </p:spPr>
        <p:txBody>
          <a:bodyPr wrap="square" rtlCol="0" anchor="ctr"/>
          <a:lstStyle/>
          <a:p>
            <a:pPr algn="ctr" indent="0" marL="0">
              <a:buNone/>
            </a:pPr>
            <a:r>
              <a:rPr lang="en-US" sz="1200" b="1" dirty="0">
                <a:solidFill>
                  <a:srgbClr val="F59E0B"/>
                </a:solidFill>
              </a:rPr>
              <a:t>ConvTranspose2d</a:t>
            </a:r>
            <a:endParaRPr lang="en-US" sz="1200" dirty="0"/>
          </a:p>
          <a:p>
            <a:pPr algn="ctr" indent="0" marL="0">
              <a:buNone/>
            </a:pPr>
            <a:r>
              <a:rPr lang="en-US" sz="1200" b="1" dirty="0">
                <a:solidFill>
                  <a:srgbClr val="F59E0B"/>
                </a:solidFill>
              </a:rPr>
              <a:t>(Upsampling Appris)</a:t>
            </a:r>
            <a:endParaRPr lang="en-US" sz="1200" dirty="0"/>
          </a:p>
        </p:txBody>
      </p:sp>
      <p:sp>
        <p:nvSpPr>
          <p:cNvPr id="16" name="Text 14"/>
          <p:cNvSpPr/>
          <p:nvPr/>
        </p:nvSpPr>
        <p:spPr>
          <a:xfrm>
            <a:off x="3355848" y="2514600"/>
            <a:ext cx="2560320" cy="438912"/>
          </a:xfrm>
          <a:prstGeom prst="rect">
            <a:avLst/>
          </a:prstGeom>
          <a:noFill/>
          <a:ln/>
        </p:spPr>
        <p:txBody>
          <a:bodyPr wrap="square" rtlCol="0" anchor="ctr"/>
          <a:lstStyle/>
          <a:p>
            <a:pPr indent="0" marL="0">
              <a:buNone/>
            </a:pPr>
            <a:r>
              <a:rPr lang="en-US" sz="950" dirty="0">
                <a:solidFill>
                  <a:srgbClr val="E8F4FD"/>
                </a:solidFill>
              </a:rPr>
              <a:t>– Remplacement de Upsample bilinéaire par ConvTranspose2d</a:t>
            </a:r>
            <a:endParaRPr lang="en-US" sz="950" dirty="0"/>
          </a:p>
        </p:txBody>
      </p:sp>
      <p:sp>
        <p:nvSpPr>
          <p:cNvPr id="17" name="Text 15"/>
          <p:cNvSpPr/>
          <p:nvPr/>
        </p:nvSpPr>
        <p:spPr>
          <a:xfrm>
            <a:off x="3355848" y="3008376"/>
            <a:ext cx="2560320" cy="438912"/>
          </a:xfrm>
          <a:prstGeom prst="rect">
            <a:avLst/>
          </a:prstGeom>
          <a:noFill/>
          <a:ln/>
        </p:spPr>
        <p:txBody>
          <a:bodyPr wrap="square" rtlCol="0" anchor="ctr"/>
          <a:lstStyle/>
          <a:p>
            <a:pPr indent="0" marL="0">
              <a:buNone/>
            </a:pPr>
            <a:r>
              <a:rPr lang="en-US" sz="950" dirty="0">
                <a:solidFill>
                  <a:srgbClr val="E8F4FD"/>
                </a:solidFill>
              </a:rPr>
              <a:t>– Noyaux appris : ×3 (16×16→48×48) et ×5 (48→240)</a:t>
            </a:r>
            <a:endParaRPr lang="en-US" sz="950" dirty="0"/>
          </a:p>
        </p:txBody>
      </p:sp>
      <p:sp>
        <p:nvSpPr>
          <p:cNvPr id="18" name="Text 16"/>
          <p:cNvSpPr/>
          <p:nvPr/>
        </p:nvSpPr>
        <p:spPr>
          <a:xfrm>
            <a:off x="3355848" y="3502152"/>
            <a:ext cx="2560320" cy="438912"/>
          </a:xfrm>
          <a:prstGeom prst="rect">
            <a:avLst/>
          </a:prstGeom>
          <a:noFill/>
          <a:ln/>
        </p:spPr>
        <p:txBody>
          <a:bodyPr wrap="square" rtlCol="0" anchor="ctr"/>
          <a:lstStyle/>
          <a:p>
            <a:pPr indent="0" marL="0">
              <a:buNone/>
            </a:pPr>
            <a:r>
              <a:rPr lang="en-US" sz="950" dirty="0">
                <a:solidFill>
                  <a:srgbClr val="E8F4FD"/>
                </a:solidFill>
              </a:rPr>
              <a:t>– Upsampling différentiable et adaptatif</a:t>
            </a:r>
            <a:endParaRPr lang="en-US" sz="950" dirty="0"/>
          </a:p>
        </p:txBody>
      </p:sp>
      <p:sp>
        <p:nvSpPr>
          <p:cNvPr id="19" name="Text 17"/>
          <p:cNvSpPr/>
          <p:nvPr/>
        </p:nvSpPr>
        <p:spPr>
          <a:xfrm>
            <a:off x="3355848" y="3995928"/>
            <a:ext cx="2560320" cy="438912"/>
          </a:xfrm>
          <a:prstGeom prst="rect">
            <a:avLst/>
          </a:prstGeom>
          <a:noFill/>
          <a:ln/>
        </p:spPr>
        <p:txBody>
          <a:bodyPr wrap="square" rtlCol="0" anchor="ctr"/>
          <a:lstStyle/>
          <a:p>
            <a:pPr indent="0" marL="0">
              <a:buNone/>
            </a:pPr>
            <a:r>
              <a:rPr lang="en-US" sz="950" dirty="0">
                <a:solidFill>
                  <a:srgbClr val="E8F4FD"/>
                </a:solidFill>
              </a:rPr>
              <a:t>– Meilleure reconstruction des bords et détails fins</a:t>
            </a:r>
            <a:endParaRPr lang="en-US" sz="950" dirty="0"/>
          </a:p>
        </p:txBody>
      </p:sp>
      <p:sp>
        <p:nvSpPr>
          <p:cNvPr id="20" name="Shape 18"/>
          <p:cNvSpPr/>
          <p:nvPr/>
        </p:nvSpPr>
        <p:spPr>
          <a:xfrm>
            <a:off x="6163056" y="1188720"/>
            <a:ext cx="2834640" cy="3611880"/>
          </a:xfrm>
          <a:prstGeom prst="roundRect">
            <a:avLst>
              <a:gd name="adj" fmla="val 4516"/>
            </a:avLst>
          </a:prstGeom>
          <a:solidFill>
            <a:srgbClr val="0A2A1A"/>
          </a:solidFill>
          <a:ln/>
          <a:effectLst>
            <a:outerShdw sx="100000" sy="100000" kx="0" ky="0" algn="bl" rotWithShape="0" blurRad="152400" dist="50800" dir="2700000">
              <a:srgbClr val="22C55E">
                <a:alpha val="25000"/>
              </a:srgbClr>
            </a:outerShdw>
          </a:effectLst>
        </p:spPr>
      </p:sp>
      <p:sp>
        <p:nvSpPr>
          <p:cNvPr id="21" name="Shape 19"/>
          <p:cNvSpPr/>
          <p:nvPr/>
        </p:nvSpPr>
        <p:spPr>
          <a:xfrm>
            <a:off x="7260336" y="1051560"/>
            <a:ext cx="658368" cy="658368"/>
          </a:xfrm>
          <a:prstGeom prst="ellipse">
            <a:avLst/>
          </a:prstGeom>
          <a:solidFill>
            <a:srgbClr val="22C55E"/>
          </a:solidFill>
          <a:ln/>
        </p:spPr>
      </p:sp>
      <p:sp>
        <p:nvSpPr>
          <p:cNvPr id="22" name="Text 20"/>
          <p:cNvSpPr/>
          <p:nvPr/>
        </p:nvSpPr>
        <p:spPr>
          <a:xfrm>
            <a:off x="7260336" y="1051560"/>
            <a:ext cx="658368" cy="658368"/>
          </a:xfrm>
          <a:prstGeom prst="rect">
            <a:avLst/>
          </a:prstGeom>
          <a:noFill/>
          <a:ln/>
        </p:spPr>
        <p:txBody>
          <a:bodyPr wrap="square" lIns="0" tIns="0" rIns="0" bIns="0" rtlCol="0" anchor="ctr"/>
          <a:lstStyle/>
          <a:p>
            <a:pPr algn="ctr" indent="0" marL="0">
              <a:buNone/>
            </a:pPr>
            <a:r>
              <a:rPr lang="en-US" sz="1400" b="1" dirty="0">
                <a:solidFill>
                  <a:srgbClr val="0A1628"/>
                </a:solidFill>
              </a:rPr>
              <a:t>03</a:t>
            </a:r>
            <a:endParaRPr lang="en-US" sz="1400" dirty="0"/>
          </a:p>
        </p:txBody>
      </p:sp>
      <p:sp>
        <p:nvSpPr>
          <p:cNvPr id="23" name="Text 21"/>
          <p:cNvSpPr/>
          <p:nvPr/>
        </p:nvSpPr>
        <p:spPr>
          <a:xfrm>
            <a:off x="6163056" y="1828800"/>
            <a:ext cx="2834640" cy="594360"/>
          </a:xfrm>
          <a:prstGeom prst="rect">
            <a:avLst/>
          </a:prstGeom>
          <a:noFill/>
          <a:ln/>
        </p:spPr>
        <p:txBody>
          <a:bodyPr wrap="square" rtlCol="0" anchor="ctr"/>
          <a:lstStyle/>
          <a:p>
            <a:pPr algn="ctr" indent="0" marL="0">
              <a:buNone/>
            </a:pPr>
            <a:r>
              <a:rPr lang="en-US" sz="1200" b="1" dirty="0">
                <a:solidFill>
                  <a:srgbClr val="22C55E"/>
                </a:solidFill>
              </a:rPr>
              <a:t>SAM Loss</a:t>
            </a:r>
            <a:endParaRPr lang="en-US" sz="1200" dirty="0"/>
          </a:p>
          <a:p>
            <a:pPr algn="ctr" indent="0" marL="0">
              <a:buNone/>
            </a:pPr>
            <a:r>
              <a:rPr lang="en-US" sz="1200" b="1" dirty="0">
                <a:solidFill>
                  <a:srgbClr val="22C55E"/>
                </a:solidFill>
              </a:rPr>
              <a:t>Différentiable</a:t>
            </a:r>
            <a:endParaRPr lang="en-US" sz="1200" dirty="0"/>
          </a:p>
        </p:txBody>
      </p:sp>
      <p:sp>
        <p:nvSpPr>
          <p:cNvPr id="24" name="Text 22"/>
          <p:cNvSpPr/>
          <p:nvPr/>
        </p:nvSpPr>
        <p:spPr>
          <a:xfrm>
            <a:off x="6300216" y="2514600"/>
            <a:ext cx="2560320" cy="438912"/>
          </a:xfrm>
          <a:prstGeom prst="rect">
            <a:avLst/>
          </a:prstGeom>
          <a:noFill/>
          <a:ln/>
        </p:spPr>
        <p:txBody>
          <a:bodyPr wrap="square" rtlCol="0" anchor="ctr"/>
          <a:lstStyle/>
          <a:p>
            <a:pPr indent="0" marL="0">
              <a:buNone/>
            </a:pPr>
            <a:r>
              <a:rPr lang="en-US" sz="950" dirty="0">
                <a:solidFill>
                  <a:srgbClr val="E8F4FD"/>
                </a:solidFill>
              </a:rPr>
              <a:t>– Perte d'Angle Spectral Moyen (SAM) dans la fonction de coût</a:t>
            </a:r>
            <a:endParaRPr lang="en-US" sz="950" dirty="0"/>
          </a:p>
        </p:txBody>
      </p:sp>
      <p:sp>
        <p:nvSpPr>
          <p:cNvPr id="25" name="Text 23"/>
          <p:cNvSpPr/>
          <p:nvPr/>
        </p:nvSpPr>
        <p:spPr>
          <a:xfrm>
            <a:off x="6300216" y="3008376"/>
            <a:ext cx="2560320" cy="438912"/>
          </a:xfrm>
          <a:prstGeom prst="rect">
            <a:avLst/>
          </a:prstGeom>
          <a:noFill/>
          <a:ln/>
        </p:spPr>
        <p:txBody>
          <a:bodyPr wrap="square" rtlCol="0" anchor="ctr"/>
          <a:lstStyle/>
          <a:p>
            <a:pPr indent="0" marL="0">
              <a:buNone/>
            </a:pPr>
            <a:r>
              <a:rPr lang="en-US" sz="950" dirty="0">
                <a:solidFill>
                  <a:srgbClr val="E8F4FD"/>
                </a:solidFill>
              </a:rPr>
              <a:t>– Pénalise la distorsion spectrale directement</a:t>
            </a:r>
            <a:endParaRPr lang="en-US" sz="950" dirty="0"/>
          </a:p>
        </p:txBody>
      </p:sp>
      <p:sp>
        <p:nvSpPr>
          <p:cNvPr id="26" name="Text 24"/>
          <p:cNvSpPr/>
          <p:nvPr/>
        </p:nvSpPr>
        <p:spPr>
          <a:xfrm>
            <a:off x="6300216" y="3502152"/>
            <a:ext cx="2560320" cy="438912"/>
          </a:xfrm>
          <a:prstGeom prst="rect">
            <a:avLst/>
          </a:prstGeom>
          <a:noFill/>
          <a:ln/>
        </p:spPr>
        <p:txBody>
          <a:bodyPr wrap="square" rtlCol="0" anchor="ctr"/>
          <a:lstStyle/>
          <a:p>
            <a:pPr indent="0" marL="0">
              <a:buNone/>
            </a:pPr>
            <a:r>
              <a:rPr lang="en-US" sz="950" dirty="0">
                <a:solidFill>
                  <a:srgbClr val="E8F4FD"/>
                </a:solidFill>
              </a:rPr>
              <a:t>– Complémentaire à la perte MSE spatiale</a:t>
            </a:r>
            <a:endParaRPr lang="en-US" sz="950" dirty="0"/>
          </a:p>
        </p:txBody>
      </p:sp>
      <p:sp>
        <p:nvSpPr>
          <p:cNvPr id="27" name="Text 25"/>
          <p:cNvSpPr/>
          <p:nvPr/>
        </p:nvSpPr>
        <p:spPr>
          <a:xfrm>
            <a:off x="6300216" y="3995928"/>
            <a:ext cx="2560320" cy="438912"/>
          </a:xfrm>
          <a:prstGeom prst="rect">
            <a:avLst/>
          </a:prstGeom>
          <a:noFill/>
          <a:ln/>
        </p:spPr>
        <p:txBody>
          <a:bodyPr wrap="square" rtlCol="0" anchor="ctr"/>
          <a:lstStyle/>
          <a:p>
            <a:pPr indent="0" marL="0">
              <a:buNone/>
            </a:pPr>
            <a:r>
              <a:rPr lang="en-US" sz="950" dirty="0">
                <a:solidFill>
                  <a:srgbClr val="E8F4FD"/>
                </a:solidFill>
              </a:rPr>
              <a:t>– λ_SAM = 0.1 (optimisé empiriquement)</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AFF"/>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600" b="1" dirty="0">
                <a:solidFill>
                  <a:srgbClr val="0A1628"/>
                </a:solidFill>
                <a:latin typeface="Cambria" pitchFamily="34" charset="0"/>
                <a:ea typeface="Cambria" pitchFamily="34" charset="-122"/>
                <a:cs typeface="Cambria" pitchFamily="34" charset="-120"/>
              </a:rPr>
              <a:t>v2 vs v3 – Comparaison Architecturale</a:t>
            </a:r>
            <a:endParaRPr lang="en-US" sz="2600" dirty="0"/>
          </a:p>
        </p:txBody>
      </p:sp>
      <p:sp>
        <p:nvSpPr>
          <p:cNvPr id="3" name="Shape 1"/>
          <p:cNvSpPr/>
          <p:nvPr/>
        </p:nvSpPr>
        <p:spPr>
          <a:xfrm>
            <a:off x="2606040" y="804672"/>
            <a:ext cx="2560320" cy="347472"/>
          </a:xfrm>
          <a:prstGeom prst="roundRect">
            <a:avLst>
              <a:gd name="adj" fmla="val 15789"/>
            </a:avLst>
          </a:prstGeom>
          <a:solidFill>
            <a:srgbClr val="065A82"/>
          </a:solidFill>
          <a:ln/>
        </p:spPr>
      </p:sp>
      <p:sp>
        <p:nvSpPr>
          <p:cNvPr id="4" name="Text 2"/>
          <p:cNvSpPr/>
          <p:nvPr/>
        </p:nvSpPr>
        <p:spPr>
          <a:xfrm>
            <a:off x="2606040" y="804672"/>
            <a:ext cx="2560320" cy="347472"/>
          </a:xfrm>
          <a:prstGeom prst="rect">
            <a:avLst/>
          </a:prstGeom>
          <a:noFill/>
          <a:ln/>
        </p:spPr>
        <p:txBody>
          <a:bodyPr wrap="square" lIns="0" tIns="0" rIns="0" bIns="0" rtlCol="0" anchor="ctr"/>
          <a:lstStyle/>
          <a:p>
            <a:pPr algn="ctr" indent="0" marL="0">
              <a:buNone/>
            </a:pPr>
            <a:r>
              <a:rPr lang="en-US" sz="1200" b="1" dirty="0">
                <a:solidFill>
                  <a:srgbClr val="FFFFFF"/>
                </a:solidFill>
              </a:rPr>
              <a:t>NL-JTAE v2</a:t>
            </a:r>
            <a:endParaRPr lang="en-US" sz="1200" dirty="0"/>
          </a:p>
        </p:txBody>
      </p:sp>
      <p:sp>
        <p:nvSpPr>
          <p:cNvPr id="5" name="Shape 3"/>
          <p:cNvSpPr/>
          <p:nvPr/>
        </p:nvSpPr>
        <p:spPr>
          <a:xfrm>
            <a:off x="5394960" y="804672"/>
            <a:ext cx="2560320" cy="347472"/>
          </a:xfrm>
          <a:prstGeom prst="roundRect">
            <a:avLst>
              <a:gd name="adj" fmla="val 15789"/>
            </a:avLst>
          </a:prstGeom>
          <a:solidFill>
            <a:srgbClr val="00C2CB"/>
          </a:solidFill>
          <a:ln/>
        </p:spPr>
      </p:sp>
      <p:sp>
        <p:nvSpPr>
          <p:cNvPr id="6" name="Text 4"/>
          <p:cNvSpPr/>
          <p:nvPr/>
        </p:nvSpPr>
        <p:spPr>
          <a:xfrm>
            <a:off x="5394960" y="804672"/>
            <a:ext cx="2560320" cy="347472"/>
          </a:xfrm>
          <a:prstGeom prst="rect">
            <a:avLst/>
          </a:prstGeom>
          <a:noFill/>
          <a:ln/>
        </p:spPr>
        <p:txBody>
          <a:bodyPr wrap="square" lIns="0" tIns="0" rIns="0" bIns="0" rtlCol="0" anchor="ctr"/>
          <a:lstStyle/>
          <a:p>
            <a:pPr algn="ctr" indent="0" marL="0">
              <a:buNone/>
            </a:pPr>
            <a:r>
              <a:rPr lang="en-US" sz="1200" b="1" dirty="0">
                <a:solidFill>
                  <a:srgbClr val="0A1628"/>
                </a:solidFill>
              </a:rPr>
              <a:t>NL-JTAE v3  ✓</a:t>
            </a:r>
            <a:endParaRPr lang="en-US" sz="1200" dirty="0"/>
          </a:p>
        </p:txBody>
      </p:sp>
      <p:sp>
        <p:nvSpPr>
          <p:cNvPr id="7" name="Shape 5"/>
          <p:cNvSpPr/>
          <p:nvPr/>
        </p:nvSpPr>
        <p:spPr>
          <a:xfrm>
            <a:off x="457200" y="1261872"/>
            <a:ext cx="2011680" cy="457200"/>
          </a:xfrm>
          <a:prstGeom prst="rect">
            <a:avLst/>
          </a:prstGeom>
          <a:solidFill>
            <a:srgbClr val="E8F4FF"/>
          </a:solidFill>
          <a:ln/>
        </p:spPr>
      </p:sp>
      <p:sp>
        <p:nvSpPr>
          <p:cNvPr id="8" name="Shape 6"/>
          <p:cNvSpPr/>
          <p:nvPr/>
        </p:nvSpPr>
        <p:spPr>
          <a:xfrm>
            <a:off x="2468880" y="1261872"/>
            <a:ext cx="137160" cy="457200"/>
          </a:xfrm>
          <a:prstGeom prst="rect">
            <a:avLst/>
          </a:prstGeom>
          <a:solidFill>
            <a:srgbClr val="E8F4FF"/>
          </a:solidFill>
          <a:ln/>
        </p:spPr>
      </p:sp>
      <p:sp>
        <p:nvSpPr>
          <p:cNvPr id="9" name="Shape 7"/>
          <p:cNvSpPr/>
          <p:nvPr/>
        </p:nvSpPr>
        <p:spPr>
          <a:xfrm>
            <a:off x="2606040" y="1261872"/>
            <a:ext cx="2560320" cy="457200"/>
          </a:xfrm>
          <a:prstGeom prst="rect">
            <a:avLst/>
          </a:prstGeom>
          <a:solidFill>
            <a:srgbClr val="E8F4FF"/>
          </a:solidFill>
          <a:ln/>
        </p:spPr>
      </p:sp>
      <p:sp>
        <p:nvSpPr>
          <p:cNvPr id="10" name="Shape 8"/>
          <p:cNvSpPr/>
          <p:nvPr/>
        </p:nvSpPr>
        <p:spPr>
          <a:xfrm>
            <a:off x="5394960" y="1261872"/>
            <a:ext cx="2560320" cy="457200"/>
          </a:xfrm>
          <a:prstGeom prst="rect">
            <a:avLst/>
          </a:prstGeom>
          <a:solidFill>
            <a:srgbClr val="E8F4FF"/>
          </a:solidFill>
          <a:ln/>
        </p:spPr>
      </p:sp>
      <p:sp>
        <p:nvSpPr>
          <p:cNvPr id="11" name="Text 9"/>
          <p:cNvSpPr/>
          <p:nvPr/>
        </p:nvSpPr>
        <p:spPr>
          <a:xfrm>
            <a:off x="502920" y="1261872"/>
            <a:ext cx="1920240" cy="457200"/>
          </a:xfrm>
          <a:prstGeom prst="rect">
            <a:avLst/>
          </a:prstGeom>
          <a:noFill/>
          <a:ln/>
        </p:spPr>
        <p:txBody>
          <a:bodyPr wrap="square" rtlCol="0" anchor="ctr"/>
          <a:lstStyle/>
          <a:p>
            <a:pPr indent="0" marL="0">
              <a:buNone/>
            </a:pPr>
            <a:r>
              <a:rPr lang="en-US" sz="950" b="1" dirty="0">
                <a:solidFill>
                  <a:srgbClr val="64748B"/>
                </a:solidFill>
              </a:rPr>
              <a:t>Composant</a:t>
            </a:r>
            <a:endParaRPr lang="en-US" sz="950" dirty="0"/>
          </a:p>
        </p:txBody>
      </p:sp>
      <p:sp>
        <p:nvSpPr>
          <p:cNvPr id="12" name="Text 10"/>
          <p:cNvSpPr/>
          <p:nvPr/>
        </p:nvSpPr>
        <p:spPr>
          <a:xfrm>
            <a:off x="2651760" y="1261872"/>
            <a:ext cx="2286000" cy="457200"/>
          </a:xfrm>
          <a:prstGeom prst="rect">
            <a:avLst/>
          </a:prstGeom>
          <a:noFill/>
          <a:ln/>
        </p:spPr>
        <p:txBody>
          <a:bodyPr wrap="square" rtlCol="0" anchor="ctr"/>
          <a:lstStyle/>
          <a:p>
            <a:pPr indent="0" marL="0">
              <a:buNone/>
            </a:pPr>
            <a:r>
              <a:rPr lang="en-US" sz="950" i="1" dirty="0">
                <a:solidFill>
                  <a:srgbClr val="64748B"/>
                </a:solidFill>
              </a:rPr>
              <a:t>Upsampling</a:t>
            </a:r>
            <a:endParaRPr lang="en-US" sz="950" dirty="0"/>
          </a:p>
        </p:txBody>
      </p:sp>
      <p:sp>
        <p:nvSpPr>
          <p:cNvPr id="13" name="Text 11"/>
          <p:cNvSpPr/>
          <p:nvPr/>
        </p:nvSpPr>
        <p:spPr>
          <a:xfrm>
            <a:off x="2651760" y="1261872"/>
            <a:ext cx="2468880" cy="457200"/>
          </a:xfrm>
          <a:prstGeom prst="rect">
            <a:avLst/>
          </a:prstGeom>
          <a:noFill/>
          <a:ln/>
        </p:spPr>
        <p:txBody>
          <a:bodyPr wrap="square" rtlCol="0" anchor="ctr"/>
          <a:lstStyle/>
          <a:p>
            <a:pPr indent="0" marL="0">
              <a:buNone/>
            </a:pPr>
            <a:r>
              <a:rPr lang="en-US" sz="1000" dirty="0">
                <a:solidFill>
                  <a:srgbClr val="475569"/>
                </a:solidFill>
              </a:rPr>
              <a:t>Bilinéaire + Conv</a:t>
            </a:r>
            <a:endParaRPr lang="en-US" sz="1000" dirty="0"/>
          </a:p>
        </p:txBody>
      </p:sp>
      <p:sp>
        <p:nvSpPr>
          <p:cNvPr id="14" name="Text 12"/>
          <p:cNvSpPr/>
          <p:nvPr/>
        </p:nvSpPr>
        <p:spPr>
          <a:xfrm>
            <a:off x="5440680" y="1261872"/>
            <a:ext cx="2468880" cy="457200"/>
          </a:xfrm>
          <a:prstGeom prst="rect">
            <a:avLst/>
          </a:prstGeom>
          <a:noFill/>
          <a:ln/>
        </p:spPr>
        <p:txBody>
          <a:bodyPr wrap="square" rtlCol="0" anchor="ctr"/>
          <a:lstStyle/>
          <a:p>
            <a:pPr indent="0" marL="0">
              <a:buNone/>
            </a:pPr>
            <a:r>
              <a:rPr lang="en-US" sz="1000" b="1" dirty="0">
                <a:solidFill>
                  <a:srgbClr val="065A82"/>
                </a:solidFill>
              </a:rPr>
              <a:t>ConvTranspose2d (appris)</a:t>
            </a:r>
            <a:endParaRPr lang="en-US" sz="1000" dirty="0"/>
          </a:p>
        </p:txBody>
      </p:sp>
      <p:sp>
        <p:nvSpPr>
          <p:cNvPr id="15" name="Shape 13"/>
          <p:cNvSpPr/>
          <p:nvPr/>
        </p:nvSpPr>
        <p:spPr>
          <a:xfrm>
            <a:off x="457200" y="1719072"/>
            <a:ext cx="2011680" cy="457200"/>
          </a:xfrm>
          <a:prstGeom prst="rect">
            <a:avLst/>
          </a:prstGeom>
          <a:solidFill>
            <a:srgbClr val="FFFFFF"/>
          </a:solidFill>
          <a:ln/>
        </p:spPr>
      </p:sp>
      <p:sp>
        <p:nvSpPr>
          <p:cNvPr id="16" name="Shape 14"/>
          <p:cNvSpPr/>
          <p:nvPr/>
        </p:nvSpPr>
        <p:spPr>
          <a:xfrm>
            <a:off x="2468880" y="1719072"/>
            <a:ext cx="137160" cy="457200"/>
          </a:xfrm>
          <a:prstGeom prst="rect">
            <a:avLst/>
          </a:prstGeom>
          <a:solidFill>
            <a:srgbClr val="FFFFFF"/>
          </a:solidFill>
          <a:ln/>
        </p:spPr>
      </p:sp>
      <p:sp>
        <p:nvSpPr>
          <p:cNvPr id="17" name="Shape 15"/>
          <p:cNvSpPr/>
          <p:nvPr/>
        </p:nvSpPr>
        <p:spPr>
          <a:xfrm>
            <a:off x="2606040" y="1719072"/>
            <a:ext cx="2560320" cy="457200"/>
          </a:xfrm>
          <a:prstGeom prst="rect">
            <a:avLst/>
          </a:prstGeom>
          <a:solidFill>
            <a:srgbClr val="FFFFFF"/>
          </a:solidFill>
          <a:ln/>
        </p:spPr>
      </p:sp>
      <p:sp>
        <p:nvSpPr>
          <p:cNvPr id="18" name="Shape 16"/>
          <p:cNvSpPr/>
          <p:nvPr/>
        </p:nvSpPr>
        <p:spPr>
          <a:xfrm>
            <a:off x="5394960" y="1719072"/>
            <a:ext cx="2560320" cy="457200"/>
          </a:xfrm>
          <a:prstGeom prst="rect">
            <a:avLst/>
          </a:prstGeom>
          <a:solidFill>
            <a:srgbClr val="FFFFFF"/>
          </a:solidFill>
          <a:ln/>
        </p:spPr>
      </p:sp>
      <p:sp>
        <p:nvSpPr>
          <p:cNvPr id="19" name="Text 17"/>
          <p:cNvSpPr/>
          <p:nvPr/>
        </p:nvSpPr>
        <p:spPr>
          <a:xfrm>
            <a:off x="502920" y="1719072"/>
            <a:ext cx="1920240" cy="457200"/>
          </a:xfrm>
          <a:prstGeom prst="rect">
            <a:avLst/>
          </a:prstGeom>
          <a:noFill/>
          <a:ln/>
        </p:spPr>
        <p:txBody>
          <a:bodyPr wrap="square" rtlCol="0" anchor="ctr"/>
          <a:lstStyle/>
          <a:p>
            <a:pPr indent="0" marL="0">
              <a:buNone/>
            </a:pPr>
            <a:r>
              <a:rPr lang="en-US" sz="950" b="1" dirty="0">
                <a:solidFill>
                  <a:srgbClr val="64748B"/>
                </a:solidFill>
              </a:rPr>
              <a:t>Architecture</a:t>
            </a:r>
            <a:endParaRPr lang="en-US" sz="950" dirty="0"/>
          </a:p>
        </p:txBody>
      </p:sp>
      <p:sp>
        <p:nvSpPr>
          <p:cNvPr id="20" name="Text 18"/>
          <p:cNvSpPr/>
          <p:nvPr/>
        </p:nvSpPr>
        <p:spPr>
          <a:xfrm>
            <a:off x="2651760" y="1719072"/>
            <a:ext cx="2286000" cy="457200"/>
          </a:xfrm>
          <a:prstGeom prst="rect">
            <a:avLst/>
          </a:prstGeom>
          <a:noFill/>
          <a:ln/>
        </p:spPr>
        <p:txBody>
          <a:bodyPr wrap="square" rtlCol="0" anchor="ctr"/>
          <a:lstStyle/>
          <a:p>
            <a:pPr indent="0" marL="0">
              <a:buNone/>
            </a:pPr>
            <a:r>
              <a:rPr lang="en-US" sz="950" i="1" dirty="0">
                <a:solidFill>
                  <a:srgbClr val="64748B"/>
                </a:solidFill>
              </a:rPr>
              <a:t>Skip Connections</a:t>
            </a:r>
            <a:endParaRPr lang="en-US" sz="950" dirty="0"/>
          </a:p>
        </p:txBody>
      </p:sp>
      <p:sp>
        <p:nvSpPr>
          <p:cNvPr id="21" name="Text 19"/>
          <p:cNvSpPr/>
          <p:nvPr/>
        </p:nvSpPr>
        <p:spPr>
          <a:xfrm>
            <a:off x="2651760" y="1719072"/>
            <a:ext cx="2468880" cy="457200"/>
          </a:xfrm>
          <a:prstGeom prst="rect">
            <a:avLst/>
          </a:prstGeom>
          <a:noFill/>
          <a:ln/>
        </p:spPr>
        <p:txBody>
          <a:bodyPr wrap="square" rtlCol="0" anchor="ctr"/>
          <a:lstStyle/>
          <a:p>
            <a:pPr indent="0" marL="0">
              <a:buNone/>
            </a:pPr>
            <a:r>
              <a:rPr lang="en-US" sz="1000" dirty="0">
                <a:solidFill>
                  <a:srgbClr val="475569"/>
                </a:solidFill>
              </a:rPr>
              <a:t>Aucune</a:t>
            </a:r>
            <a:endParaRPr lang="en-US" sz="1000" dirty="0"/>
          </a:p>
        </p:txBody>
      </p:sp>
      <p:sp>
        <p:nvSpPr>
          <p:cNvPr id="22" name="Text 20"/>
          <p:cNvSpPr/>
          <p:nvPr/>
        </p:nvSpPr>
        <p:spPr>
          <a:xfrm>
            <a:off x="5440680" y="1719072"/>
            <a:ext cx="2468880" cy="457200"/>
          </a:xfrm>
          <a:prstGeom prst="rect">
            <a:avLst/>
          </a:prstGeom>
          <a:noFill/>
          <a:ln/>
        </p:spPr>
        <p:txBody>
          <a:bodyPr wrap="square" rtlCol="0" anchor="ctr"/>
          <a:lstStyle/>
          <a:p>
            <a:pPr indent="0" marL="0">
              <a:buNone/>
            </a:pPr>
            <a:r>
              <a:rPr lang="en-US" sz="1000" b="1" dirty="0">
                <a:solidFill>
                  <a:srgbClr val="065A82"/>
                </a:solidFill>
              </a:rPr>
              <a:t>feat_240 + feat_48</a:t>
            </a:r>
            <a:endParaRPr lang="en-US" sz="1000" dirty="0"/>
          </a:p>
        </p:txBody>
      </p:sp>
      <p:sp>
        <p:nvSpPr>
          <p:cNvPr id="23" name="Shape 21"/>
          <p:cNvSpPr/>
          <p:nvPr/>
        </p:nvSpPr>
        <p:spPr>
          <a:xfrm>
            <a:off x="457200" y="2176272"/>
            <a:ext cx="2011680" cy="457200"/>
          </a:xfrm>
          <a:prstGeom prst="rect">
            <a:avLst/>
          </a:prstGeom>
          <a:solidFill>
            <a:srgbClr val="E8F4FF"/>
          </a:solidFill>
          <a:ln/>
        </p:spPr>
      </p:sp>
      <p:sp>
        <p:nvSpPr>
          <p:cNvPr id="24" name="Shape 22"/>
          <p:cNvSpPr/>
          <p:nvPr/>
        </p:nvSpPr>
        <p:spPr>
          <a:xfrm>
            <a:off x="2468880" y="2176272"/>
            <a:ext cx="137160" cy="457200"/>
          </a:xfrm>
          <a:prstGeom prst="rect">
            <a:avLst/>
          </a:prstGeom>
          <a:solidFill>
            <a:srgbClr val="E8F4FF"/>
          </a:solidFill>
          <a:ln/>
        </p:spPr>
      </p:sp>
      <p:sp>
        <p:nvSpPr>
          <p:cNvPr id="25" name="Shape 23"/>
          <p:cNvSpPr/>
          <p:nvPr/>
        </p:nvSpPr>
        <p:spPr>
          <a:xfrm>
            <a:off x="2606040" y="2176272"/>
            <a:ext cx="2560320" cy="457200"/>
          </a:xfrm>
          <a:prstGeom prst="rect">
            <a:avLst/>
          </a:prstGeom>
          <a:solidFill>
            <a:srgbClr val="E8F4FF"/>
          </a:solidFill>
          <a:ln/>
        </p:spPr>
      </p:sp>
      <p:sp>
        <p:nvSpPr>
          <p:cNvPr id="26" name="Shape 24"/>
          <p:cNvSpPr/>
          <p:nvPr/>
        </p:nvSpPr>
        <p:spPr>
          <a:xfrm>
            <a:off x="5394960" y="2176272"/>
            <a:ext cx="2560320" cy="457200"/>
          </a:xfrm>
          <a:prstGeom prst="rect">
            <a:avLst/>
          </a:prstGeom>
          <a:solidFill>
            <a:srgbClr val="E8F4FF"/>
          </a:solidFill>
          <a:ln/>
        </p:spPr>
      </p:sp>
      <p:sp>
        <p:nvSpPr>
          <p:cNvPr id="27" name="Text 25"/>
          <p:cNvSpPr/>
          <p:nvPr/>
        </p:nvSpPr>
        <p:spPr>
          <a:xfrm>
            <a:off x="502920" y="2176272"/>
            <a:ext cx="1920240" cy="457200"/>
          </a:xfrm>
          <a:prstGeom prst="rect">
            <a:avLst/>
          </a:prstGeom>
          <a:noFill/>
          <a:ln/>
        </p:spPr>
        <p:txBody>
          <a:bodyPr wrap="square" rtlCol="0" anchor="ctr"/>
          <a:lstStyle/>
          <a:p>
            <a:pPr indent="0" marL="0">
              <a:buNone/>
            </a:pPr>
            <a:r>
              <a:rPr lang="en-US" sz="950" b="1" dirty="0">
                <a:solidFill>
                  <a:srgbClr val="64748B"/>
                </a:solidFill>
              </a:rPr>
              <a:t>Entraînement</a:t>
            </a:r>
            <a:endParaRPr lang="en-US" sz="950" dirty="0"/>
          </a:p>
        </p:txBody>
      </p:sp>
      <p:sp>
        <p:nvSpPr>
          <p:cNvPr id="28" name="Text 26"/>
          <p:cNvSpPr/>
          <p:nvPr/>
        </p:nvSpPr>
        <p:spPr>
          <a:xfrm>
            <a:off x="2651760" y="2176272"/>
            <a:ext cx="2286000" cy="457200"/>
          </a:xfrm>
          <a:prstGeom prst="rect">
            <a:avLst/>
          </a:prstGeom>
          <a:noFill/>
          <a:ln/>
        </p:spPr>
        <p:txBody>
          <a:bodyPr wrap="square" rtlCol="0" anchor="ctr"/>
          <a:lstStyle/>
          <a:p>
            <a:pPr indent="0" marL="0">
              <a:buNone/>
            </a:pPr>
            <a:r>
              <a:rPr lang="en-US" sz="950" i="1" dirty="0">
                <a:solidFill>
                  <a:srgbClr val="64748B"/>
                </a:solidFill>
              </a:rPr>
              <a:t>Fonction de perte</a:t>
            </a:r>
            <a:endParaRPr lang="en-US" sz="950" dirty="0"/>
          </a:p>
        </p:txBody>
      </p:sp>
      <p:sp>
        <p:nvSpPr>
          <p:cNvPr id="29" name="Text 27"/>
          <p:cNvSpPr/>
          <p:nvPr/>
        </p:nvSpPr>
        <p:spPr>
          <a:xfrm>
            <a:off x="2651760" y="2176272"/>
            <a:ext cx="2468880" cy="457200"/>
          </a:xfrm>
          <a:prstGeom prst="rect">
            <a:avLst/>
          </a:prstGeom>
          <a:noFill/>
          <a:ln/>
        </p:spPr>
        <p:txBody>
          <a:bodyPr wrap="square" rtlCol="0" anchor="ctr"/>
          <a:lstStyle/>
          <a:p>
            <a:pPr indent="0" marL="0">
              <a:buNone/>
            </a:pPr>
            <a:r>
              <a:rPr lang="en-US" sz="1000" dirty="0">
                <a:solidFill>
                  <a:srgbClr val="475569"/>
                </a:solidFill>
              </a:rPr>
              <a:t>MSE + S2 + S3 + L1</a:t>
            </a:r>
            <a:endParaRPr lang="en-US" sz="1000" dirty="0"/>
          </a:p>
        </p:txBody>
      </p:sp>
      <p:sp>
        <p:nvSpPr>
          <p:cNvPr id="30" name="Text 28"/>
          <p:cNvSpPr/>
          <p:nvPr/>
        </p:nvSpPr>
        <p:spPr>
          <a:xfrm>
            <a:off x="5440680" y="2176272"/>
            <a:ext cx="2468880" cy="457200"/>
          </a:xfrm>
          <a:prstGeom prst="rect">
            <a:avLst/>
          </a:prstGeom>
          <a:noFill/>
          <a:ln/>
        </p:spPr>
        <p:txBody>
          <a:bodyPr wrap="square" rtlCol="0" anchor="ctr"/>
          <a:lstStyle/>
          <a:p>
            <a:pPr indent="0" marL="0">
              <a:buNone/>
            </a:pPr>
            <a:r>
              <a:rPr lang="en-US" sz="1000" b="1" dirty="0">
                <a:solidFill>
                  <a:srgbClr val="065A82"/>
                </a:solidFill>
              </a:rPr>
              <a:t>MSE + SAM + S2 + S3 + L1</a:t>
            </a:r>
            <a:endParaRPr lang="en-US" sz="1000" dirty="0"/>
          </a:p>
        </p:txBody>
      </p:sp>
      <p:sp>
        <p:nvSpPr>
          <p:cNvPr id="31" name="Shape 29"/>
          <p:cNvSpPr/>
          <p:nvPr/>
        </p:nvSpPr>
        <p:spPr>
          <a:xfrm>
            <a:off x="457200" y="2633472"/>
            <a:ext cx="2011680" cy="457200"/>
          </a:xfrm>
          <a:prstGeom prst="rect">
            <a:avLst/>
          </a:prstGeom>
          <a:solidFill>
            <a:srgbClr val="FFFFFF"/>
          </a:solidFill>
          <a:ln/>
        </p:spPr>
      </p:sp>
      <p:sp>
        <p:nvSpPr>
          <p:cNvPr id="32" name="Shape 30"/>
          <p:cNvSpPr/>
          <p:nvPr/>
        </p:nvSpPr>
        <p:spPr>
          <a:xfrm>
            <a:off x="2468880" y="2633472"/>
            <a:ext cx="137160" cy="457200"/>
          </a:xfrm>
          <a:prstGeom prst="rect">
            <a:avLst/>
          </a:prstGeom>
          <a:solidFill>
            <a:srgbClr val="FFFFFF"/>
          </a:solidFill>
          <a:ln/>
        </p:spPr>
      </p:sp>
      <p:sp>
        <p:nvSpPr>
          <p:cNvPr id="33" name="Shape 31"/>
          <p:cNvSpPr/>
          <p:nvPr/>
        </p:nvSpPr>
        <p:spPr>
          <a:xfrm>
            <a:off x="2606040" y="2633472"/>
            <a:ext cx="2560320" cy="457200"/>
          </a:xfrm>
          <a:prstGeom prst="rect">
            <a:avLst/>
          </a:prstGeom>
          <a:solidFill>
            <a:srgbClr val="FFFFFF"/>
          </a:solidFill>
          <a:ln/>
        </p:spPr>
      </p:sp>
      <p:sp>
        <p:nvSpPr>
          <p:cNvPr id="34" name="Shape 32"/>
          <p:cNvSpPr/>
          <p:nvPr/>
        </p:nvSpPr>
        <p:spPr>
          <a:xfrm>
            <a:off x="5394960" y="2633472"/>
            <a:ext cx="2560320" cy="457200"/>
          </a:xfrm>
          <a:prstGeom prst="rect">
            <a:avLst/>
          </a:prstGeom>
          <a:solidFill>
            <a:srgbClr val="FFFFFF"/>
          </a:solidFill>
          <a:ln/>
        </p:spPr>
      </p:sp>
      <p:sp>
        <p:nvSpPr>
          <p:cNvPr id="35" name="Text 33"/>
          <p:cNvSpPr/>
          <p:nvPr/>
        </p:nvSpPr>
        <p:spPr>
          <a:xfrm>
            <a:off x="502920" y="2633472"/>
            <a:ext cx="1920240" cy="457200"/>
          </a:xfrm>
          <a:prstGeom prst="rect">
            <a:avLst/>
          </a:prstGeom>
          <a:noFill/>
          <a:ln/>
        </p:spPr>
        <p:txBody>
          <a:bodyPr wrap="square" rtlCol="0" anchor="ctr"/>
          <a:lstStyle/>
          <a:p>
            <a:pPr indent="0" marL="0">
              <a:buNone/>
            </a:pPr>
            <a:r>
              <a:rPr lang="en-US" sz="950" b="1" dirty="0">
                <a:solidFill>
                  <a:srgbClr val="64748B"/>
                </a:solidFill>
              </a:rPr>
              <a:t>Encodeur</a:t>
            </a:r>
            <a:endParaRPr lang="en-US" sz="950" dirty="0"/>
          </a:p>
        </p:txBody>
      </p:sp>
      <p:sp>
        <p:nvSpPr>
          <p:cNvPr id="36" name="Text 34"/>
          <p:cNvSpPr/>
          <p:nvPr/>
        </p:nvSpPr>
        <p:spPr>
          <a:xfrm>
            <a:off x="2651760" y="2633472"/>
            <a:ext cx="2286000" cy="457200"/>
          </a:xfrm>
          <a:prstGeom prst="rect">
            <a:avLst/>
          </a:prstGeom>
          <a:noFill/>
          <a:ln/>
        </p:spPr>
        <p:txBody>
          <a:bodyPr wrap="square" rtlCol="0" anchor="ctr"/>
          <a:lstStyle/>
          <a:p>
            <a:pPr indent="0" marL="0">
              <a:buNone/>
            </a:pPr>
            <a:r>
              <a:rPr lang="en-US" sz="950" i="1" dirty="0">
                <a:solidFill>
                  <a:srgbClr val="64748B"/>
                </a:solidFill>
              </a:rPr>
              <a:t>Downsampling</a:t>
            </a:r>
            <a:endParaRPr lang="en-US" sz="950" dirty="0"/>
          </a:p>
        </p:txBody>
      </p:sp>
      <p:sp>
        <p:nvSpPr>
          <p:cNvPr id="37" name="Text 35"/>
          <p:cNvSpPr/>
          <p:nvPr/>
        </p:nvSpPr>
        <p:spPr>
          <a:xfrm>
            <a:off x="2651760" y="2633472"/>
            <a:ext cx="2468880" cy="457200"/>
          </a:xfrm>
          <a:prstGeom prst="rect">
            <a:avLst/>
          </a:prstGeom>
          <a:noFill/>
          <a:ln/>
        </p:spPr>
        <p:txBody>
          <a:bodyPr wrap="square" rtlCol="0" anchor="ctr"/>
          <a:lstStyle/>
          <a:p>
            <a:pPr indent="0" marL="0">
              <a:buNone/>
            </a:pPr>
            <a:r>
              <a:rPr lang="en-US" sz="1000" dirty="0">
                <a:solidFill>
                  <a:srgbClr val="475569"/>
                </a:solidFill>
              </a:rPr>
              <a:t>AdaptiveAvgPool</a:t>
            </a:r>
            <a:endParaRPr lang="en-US" sz="1000" dirty="0"/>
          </a:p>
        </p:txBody>
      </p:sp>
      <p:sp>
        <p:nvSpPr>
          <p:cNvPr id="38" name="Text 36"/>
          <p:cNvSpPr/>
          <p:nvPr/>
        </p:nvSpPr>
        <p:spPr>
          <a:xfrm>
            <a:off x="5440680" y="2633472"/>
            <a:ext cx="2468880" cy="457200"/>
          </a:xfrm>
          <a:prstGeom prst="rect">
            <a:avLst/>
          </a:prstGeom>
          <a:noFill/>
          <a:ln/>
        </p:spPr>
        <p:txBody>
          <a:bodyPr wrap="square" rtlCol="0" anchor="ctr"/>
          <a:lstStyle/>
          <a:p>
            <a:pPr indent="0" marL="0">
              <a:buNone/>
            </a:pPr>
            <a:r>
              <a:rPr lang="en-US" sz="1000" b="1" dirty="0">
                <a:solidFill>
                  <a:srgbClr val="065A82"/>
                </a:solidFill>
              </a:rPr>
              <a:t>MaxPool ×5 + MaxPool ×3</a:t>
            </a:r>
            <a:endParaRPr lang="en-US" sz="1000" dirty="0"/>
          </a:p>
        </p:txBody>
      </p:sp>
      <p:sp>
        <p:nvSpPr>
          <p:cNvPr id="39" name="Shape 37"/>
          <p:cNvSpPr/>
          <p:nvPr/>
        </p:nvSpPr>
        <p:spPr>
          <a:xfrm>
            <a:off x="457200" y="3090672"/>
            <a:ext cx="2011680" cy="457200"/>
          </a:xfrm>
          <a:prstGeom prst="rect">
            <a:avLst/>
          </a:prstGeom>
          <a:solidFill>
            <a:srgbClr val="E8F4FF"/>
          </a:solidFill>
          <a:ln/>
        </p:spPr>
      </p:sp>
      <p:sp>
        <p:nvSpPr>
          <p:cNvPr id="40" name="Shape 38"/>
          <p:cNvSpPr/>
          <p:nvPr/>
        </p:nvSpPr>
        <p:spPr>
          <a:xfrm>
            <a:off x="2468880" y="3090672"/>
            <a:ext cx="137160" cy="457200"/>
          </a:xfrm>
          <a:prstGeom prst="rect">
            <a:avLst/>
          </a:prstGeom>
          <a:solidFill>
            <a:srgbClr val="E8F4FF"/>
          </a:solidFill>
          <a:ln/>
        </p:spPr>
      </p:sp>
      <p:sp>
        <p:nvSpPr>
          <p:cNvPr id="41" name="Shape 39"/>
          <p:cNvSpPr/>
          <p:nvPr/>
        </p:nvSpPr>
        <p:spPr>
          <a:xfrm>
            <a:off x="2606040" y="3090672"/>
            <a:ext cx="2560320" cy="457200"/>
          </a:xfrm>
          <a:prstGeom prst="rect">
            <a:avLst/>
          </a:prstGeom>
          <a:solidFill>
            <a:srgbClr val="E8F4FF"/>
          </a:solidFill>
          <a:ln/>
        </p:spPr>
      </p:sp>
      <p:sp>
        <p:nvSpPr>
          <p:cNvPr id="42" name="Shape 40"/>
          <p:cNvSpPr/>
          <p:nvPr/>
        </p:nvSpPr>
        <p:spPr>
          <a:xfrm>
            <a:off x="5394960" y="3090672"/>
            <a:ext cx="2560320" cy="457200"/>
          </a:xfrm>
          <a:prstGeom prst="rect">
            <a:avLst/>
          </a:prstGeom>
          <a:solidFill>
            <a:srgbClr val="E8F4FF"/>
          </a:solidFill>
          <a:ln/>
        </p:spPr>
      </p:sp>
      <p:sp>
        <p:nvSpPr>
          <p:cNvPr id="43" name="Text 41"/>
          <p:cNvSpPr/>
          <p:nvPr/>
        </p:nvSpPr>
        <p:spPr>
          <a:xfrm>
            <a:off x="502920" y="3090672"/>
            <a:ext cx="1920240" cy="457200"/>
          </a:xfrm>
          <a:prstGeom prst="rect">
            <a:avLst/>
          </a:prstGeom>
          <a:noFill/>
          <a:ln/>
        </p:spPr>
        <p:txBody>
          <a:bodyPr wrap="square" rtlCol="0" anchor="ctr"/>
          <a:lstStyle/>
          <a:p>
            <a:pPr indent="0" marL="0">
              <a:buNone/>
            </a:pPr>
            <a:r>
              <a:rPr lang="en-US" sz="950" b="1" dirty="0">
                <a:solidFill>
                  <a:srgbClr val="64748B"/>
                </a:solidFill>
              </a:rPr>
              <a:t>Décodeur</a:t>
            </a:r>
            <a:endParaRPr lang="en-US" sz="950" dirty="0"/>
          </a:p>
        </p:txBody>
      </p:sp>
      <p:sp>
        <p:nvSpPr>
          <p:cNvPr id="44" name="Text 42"/>
          <p:cNvSpPr/>
          <p:nvPr/>
        </p:nvSpPr>
        <p:spPr>
          <a:xfrm>
            <a:off x="2651760" y="3090672"/>
            <a:ext cx="2286000" cy="457200"/>
          </a:xfrm>
          <a:prstGeom prst="rect">
            <a:avLst/>
          </a:prstGeom>
          <a:noFill/>
          <a:ln/>
        </p:spPr>
        <p:txBody>
          <a:bodyPr wrap="square" rtlCol="0" anchor="ctr"/>
          <a:lstStyle/>
          <a:p>
            <a:pPr indent="0" marL="0">
              <a:buNone/>
            </a:pPr>
            <a:r>
              <a:rPr lang="en-US" sz="950" i="1" dirty="0">
                <a:solidFill>
                  <a:srgbClr val="64748B"/>
                </a:solidFill>
              </a:rPr>
              <a:t>Étapes</a:t>
            </a:r>
            <a:endParaRPr lang="en-US" sz="950" dirty="0"/>
          </a:p>
        </p:txBody>
      </p:sp>
      <p:sp>
        <p:nvSpPr>
          <p:cNvPr id="45" name="Text 43"/>
          <p:cNvSpPr/>
          <p:nvPr/>
        </p:nvSpPr>
        <p:spPr>
          <a:xfrm>
            <a:off x="2651760" y="3090672"/>
            <a:ext cx="2468880" cy="457200"/>
          </a:xfrm>
          <a:prstGeom prst="rect">
            <a:avLst/>
          </a:prstGeom>
          <a:noFill/>
          <a:ln/>
        </p:spPr>
        <p:txBody>
          <a:bodyPr wrap="square" rtlCol="0" anchor="ctr"/>
          <a:lstStyle/>
          <a:p>
            <a:pPr indent="0" marL="0">
              <a:buNone/>
            </a:pPr>
            <a:r>
              <a:rPr lang="en-US" sz="1000" dirty="0">
                <a:solidFill>
                  <a:srgbClr val="475569"/>
                </a:solidFill>
              </a:rPr>
              <a:t>2 blocs Upsample</a:t>
            </a:r>
            <a:endParaRPr lang="en-US" sz="1000" dirty="0"/>
          </a:p>
        </p:txBody>
      </p:sp>
      <p:sp>
        <p:nvSpPr>
          <p:cNvPr id="46" name="Text 44"/>
          <p:cNvSpPr/>
          <p:nvPr/>
        </p:nvSpPr>
        <p:spPr>
          <a:xfrm>
            <a:off x="5440680" y="3090672"/>
            <a:ext cx="2468880" cy="457200"/>
          </a:xfrm>
          <a:prstGeom prst="rect">
            <a:avLst/>
          </a:prstGeom>
          <a:noFill/>
          <a:ln/>
        </p:spPr>
        <p:txBody>
          <a:bodyPr wrap="square" rtlCol="0" anchor="ctr"/>
          <a:lstStyle/>
          <a:p>
            <a:pPr indent="0" marL="0">
              <a:buNone/>
            </a:pPr>
            <a:r>
              <a:rPr lang="en-US" sz="1000" b="1" dirty="0">
                <a:solidFill>
                  <a:srgbClr val="065A82"/>
                </a:solidFill>
              </a:rPr>
              <a:t>2 blocs ConvTranspose + Cat</a:t>
            </a:r>
            <a:endParaRPr lang="en-US" sz="1000" dirty="0"/>
          </a:p>
        </p:txBody>
      </p:sp>
      <p:sp>
        <p:nvSpPr>
          <p:cNvPr id="47" name="Shape 45"/>
          <p:cNvSpPr/>
          <p:nvPr/>
        </p:nvSpPr>
        <p:spPr>
          <a:xfrm>
            <a:off x="457200" y="3547872"/>
            <a:ext cx="2011680" cy="457200"/>
          </a:xfrm>
          <a:prstGeom prst="rect">
            <a:avLst/>
          </a:prstGeom>
          <a:solidFill>
            <a:srgbClr val="FFFFFF"/>
          </a:solidFill>
          <a:ln/>
        </p:spPr>
      </p:sp>
      <p:sp>
        <p:nvSpPr>
          <p:cNvPr id="48" name="Shape 46"/>
          <p:cNvSpPr/>
          <p:nvPr/>
        </p:nvSpPr>
        <p:spPr>
          <a:xfrm>
            <a:off x="2468880" y="3547872"/>
            <a:ext cx="137160" cy="457200"/>
          </a:xfrm>
          <a:prstGeom prst="rect">
            <a:avLst/>
          </a:prstGeom>
          <a:solidFill>
            <a:srgbClr val="FFFFFF"/>
          </a:solidFill>
          <a:ln/>
        </p:spPr>
      </p:sp>
      <p:sp>
        <p:nvSpPr>
          <p:cNvPr id="49" name="Shape 47"/>
          <p:cNvSpPr/>
          <p:nvPr/>
        </p:nvSpPr>
        <p:spPr>
          <a:xfrm>
            <a:off x="2606040" y="3547872"/>
            <a:ext cx="2560320" cy="457200"/>
          </a:xfrm>
          <a:prstGeom prst="rect">
            <a:avLst/>
          </a:prstGeom>
          <a:solidFill>
            <a:srgbClr val="FFFFFF"/>
          </a:solidFill>
          <a:ln/>
        </p:spPr>
      </p:sp>
      <p:sp>
        <p:nvSpPr>
          <p:cNvPr id="50" name="Shape 48"/>
          <p:cNvSpPr/>
          <p:nvPr/>
        </p:nvSpPr>
        <p:spPr>
          <a:xfrm>
            <a:off x="5394960" y="3547872"/>
            <a:ext cx="2560320" cy="457200"/>
          </a:xfrm>
          <a:prstGeom prst="rect">
            <a:avLst/>
          </a:prstGeom>
          <a:solidFill>
            <a:srgbClr val="FFFFFF"/>
          </a:solidFill>
          <a:ln/>
        </p:spPr>
      </p:sp>
      <p:sp>
        <p:nvSpPr>
          <p:cNvPr id="51" name="Text 49"/>
          <p:cNvSpPr/>
          <p:nvPr/>
        </p:nvSpPr>
        <p:spPr>
          <a:xfrm>
            <a:off x="502920" y="3547872"/>
            <a:ext cx="1920240" cy="457200"/>
          </a:xfrm>
          <a:prstGeom prst="rect">
            <a:avLst/>
          </a:prstGeom>
          <a:noFill/>
          <a:ln/>
        </p:spPr>
        <p:txBody>
          <a:bodyPr wrap="square" rtlCol="0" anchor="ctr"/>
          <a:lstStyle/>
          <a:p>
            <a:pPr indent="0" marL="0">
              <a:buNone/>
            </a:pPr>
            <a:r>
              <a:rPr lang="en-US" sz="950" b="1" dirty="0">
                <a:solidFill>
                  <a:srgbClr val="64748B"/>
                </a:solidFill>
              </a:rPr>
              <a:t>Hyperparamètres</a:t>
            </a:r>
            <a:endParaRPr lang="en-US" sz="950" dirty="0"/>
          </a:p>
        </p:txBody>
      </p:sp>
      <p:sp>
        <p:nvSpPr>
          <p:cNvPr id="52" name="Text 50"/>
          <p:cNvSpPr/>
          <p:nvPr/>
        </p:nvSpPr>
        <p:spPr>
          <a:xfrm>
            <a:off x="2651760" y="3547872"/>
            <a:ext cx="2286000" cy="457200"/>
          </a:xfrm>
          <a:prstGeom prst="rect">
            <a:avLst/>
          </a:prstGeom>
          <a:noFill/>
          <a:ln/>
        </p:spPr>
        <p:txBody>
          <a:bodyPr wrap="square" rtlCol="0" anchor="ctr"/>
          <a:lstStyle/>
          <a:p>
            <a:pPr indent="0" marL="0">
              <a:buNone/>
            </a:pPr>
            <a:r>
              <a:rPr lang="en-US" sz="950" i="1" dirty="0">
                <a:solidFill>
                  <a:srgbClr val="64748B"/>
                </a:solidFill>
              </a:rPr>
              <a:t>Rangs Tucker</a:t>
            </a:r>
            <a:endParaRPr lang="en-US" sz="950" dirty="0"/>
          </a:p>
        </p:txBody>
      </p:sp>
      <p:sp>
        <p:nvSpPr>
          <p:cNvPr id="53" name="Text 51"/>
          <p:cNvSpPr/>
          <p:nvPr/>
        </p:nvSpPr>
        <p:spPr>
          <a:xfrm>
            <a:off x="2651760" y="3547872"/>
            <a:ext cx="2468880" cy="457200"/>
          </a:xfrm>
          <a:prstGeom prst="rect">
            <a:avLst/>
          </a:prstGeom>
          <a:noFill/>
          <a:ln/>
        </p:spPr>
        <p:txBody>
          <a:bodyPr wrap="square" rtlCol="0" anchor="ctr"/>
          <a:lstStyle/>
          <a:p>
            <a:pPr indent="0" marL="0">
              <a:buNone/>
            </a:pPr>
            <a:r>
              <a:rPr lang="en-US" sz="1000" dirty="0">
                <a:solidFill>
                  <a:srgbClr val="475569"/>
                </a:solidFill>
              </a:rPr>
              <a:t>(16, 16, 8)</a:t>
            </a:r>
            <a:endParaRPr lang="en-US" sz="1000" dirty="0"/>
          </a:p>
        </p:txBody>
      </p:sp>
      <p:sp>
        <p:nvSpPr>
          <p:cNvPr id="54" name="Text 52"/>
          <p:cNvSpPr/>
          <p:nvPr/>
        </p:nvSpPr>
        <p:spPr>
          <a:xfrm>
            <a:off x="5440680" y="3547872"/>
            <a:ext cx="2468880" cy="457200"/>
          </a:xfrm>
          <a:prstGeom prst="rect">
            <a:avLst/>
          </a:prstGeom>
          <a:noFill/>
          <a:ln/>
        </p:spPr>
        <p:txBody>
          <a:bodyPr wrap="square" rtlCol="0" anchor="ctr"/>
          <a:lstStyle/>
          <a:p>
            <a:pPr indent="0" marL="0">
              <a:buNone/>
            </a:pPr>
            <a:r>
              <a:rPr lang="en-US" sz="1000" b="1" dirty="0">
                <a:solidFill>
                  <a:srgbClr val="065A82"/>
                </a:solidFill>
              </a:rPr>
              <a:t>(16, 16, 32)</a:t>
            </a:r>
            <a:endParaRPr lang="en-US" sz="1000" dirty="0"/>
          </a:p>
        </p:txBody>
      </p:sp>
      <p:sp>
        <p:nvSpPr>
          <p:cNvPr id="55" name="Shape 53"/>
          <p:cNvSpPr/>
          <p:nvPr/>
        </p:nvSpPr>
        <p:spPr>
          <a:xfrm>
            <a:off x="457200" y="1261872"/>
            <a:ext cx="18288" cy="2743200"/>
          </a:xfrm>
          <a:prstGeom prst="rect">
            <a:avLst/>
          </a:prstGeom>
          <a:solidFill>
            <a:srgbClr val="CBD5E1"/>
          </a:solidFill>
          <a:ln/>
        </p:spPr>
      </p:sp>
      <p:sp>
        <p:nvSpPr>
          <p:cNvPr id="56" name="Shape 54"/>
          <p:cNvSpPr/>
          <p:nvPr/>
        </p:nvSpPr>
        <p:spPr>
          <a:xfrm>
            <a:off x="8869680" y="1261872"/>
            <a:ext cx="18288" cy="2743200"/>
          </a:xfrm>
          <a:prstGeom prst="rect">
            <a:avLst/>
          </a:prstGeom>
          <a:solidFill>
            <a:srgbClr val="CBD5E1"/>
          </a:solidFill>
          <a:ln/>
        </p:spPr>
      </p:sp>
      <p:sp>
        <p:nvSpPr>
          <p:cNvPr id="57" name="Shape 55"/>
          <p:cNvSpPr/>
          <p:nvPr/>
        </p:nvSpPr>
        <p:spPr>
          <a:xfrm>
            <a:off x="457200" y="4206240"/>
            <a:ext cx="8412480" cy="594360"/>
          </a:xfrm>
          <a:prstGeom prst="roundRect">
            <a:avLst>
              <a:gd name="adj" fmla="val 12308"/>
            </a:avLst>
          </a:prstGeom>
          <a:solidFill>
            <a:srgbClr val="EFF6FF"/>
          </a:solidFill>
          <a:ln/>
          <a:effectLst>
            <a:outerShdw sx="100000" sy="100000" kx="0" ky="0" algn="bl" rotWithShape="0" blurRad="50800" dist="12700" dir="2700000">
              <a:srgbClr val="000000">
                <a:alpha val="7000"/>
              </a:srgbClr>
            </a:outerShdw>
          </a:effectLst>
        </p:spPr>
      </p:sp>
      <p:sp>
        <p:nvSpPr>
          <p:cNvPr id="58" name="Text 56"/>
          <p:cNvSpPr/>
          <p:nvPr/>
        </p:nvSpPr>
        <p:spPr>
          <a:xfrm>
            <a:off x="594360" y="4251960"/>
            <a:ext cx="8138160" cy="512064"/>
          </a:xfrm>
          <a:prstGeom prst="rect">
            <a:avLst/>
          </a:prstGeom>
          <a:noFill/>
          <a:ln/>
        </p:spPr>
        <p:txBody>
          <a:bodyPr wrap="square" rtlCol="0" anchor="ctr"/>
          <a:lstStyle/>
          <a:p>
            <a:pPr indent="0" marL="0">
              <a:buNone/>
            </a:pPr>
            <a:r>
              <a:rPr lang="en-US" sz="1000" i="1" dirty="0">
                <a:solidFill>
                  <a:srgbClr val="065A82"/>
                </a:solidFill>
              </a:rPr>
              <a:t>La v3 conserve la même structure générale mais enrichit chaque composant : upsampling appris, skip connections et loss spectrale. Cela représente une évolution architecturale cohérente, pas une refonte complète.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Performances – PaviaU (103 bandes, 240×240 px)</a:t>
            </a:r>
            <a:endParaRPr lang="en-US" sz="2400" dirty="0"/>
          </a:p>
        </p:txBody>
      </p:sp>
      <p:sp>
        <p:nvSpPr>
          <p:cNvPr id="3" name="Text 1"/>
          <p:cNvSpPr/>
          <p:nvPr/>
        </p:nvSpPr>
        <p:spPr>
          <a:xfrm>
            <a:off x="457200" y="731520"/>
            <a:ext cx="8229600" cy="274320"/>
          </a:xfrm>
          <a:prstGeom prst="rect">
            <a:avLst/>
          </a:prstGeom>
          <a:noFill/>
          <a:ln/>
        </p:spPr>
        <p:txBody>
          <a:bodyPr wrap="square" rtlCol="0" anchor="ctr"/>
          <a:lstStyle/>
          <a:p>
            <a:pPr indent="0" marL="0">
              <a:buNone/>
            </a:pPr>
            <a:r>
              <a:rPr lang="en-US" sz="1100" i="1" dirty="0">
                <a:solidFill>
                  <a:srgbClr val="8BACC8"/>
                </a:solidFill>
              </a:rPr>
              <a:t>Protocole supervisé · Mode : entraînement sur la vérité terrain</a:t>
            </a:r>
            <a:endParaRPr lang="en-US" sz="1100" dirty="0"/>
          </a:p>
        </p:txBody>
      </p:sp>
      <p:sp>
        <p:nvSpPr>
          <p:cNvPr id="4" name="Shape 2"/>
          <p:cNvSpPr/>
          <p:nvPr/>
        </p:nvSpPr>
        <p:spPr>
          <a:xfrm>
            <a:off x="274320" y="1143000"/>
            <a:ext cx="2011680" cy="3474720"/>
          </a:xfrm>
          <a:prstGeom prst="roundRect">
            <a:avLst>
              <a:gd name="adj" fmla="val 5455"/>
            </a:avLst>
          </a:prstGeom>
          <a:solidFill>
            <a:srgbClr val="0D2137"/>
          </a:solidFill>
          <a:ln/>
          <a:effectLst>
            <a:outerShdw sx="100000" sy="100000" kx="0" ky="0" algn="bl" rotWithShape="0" blurRad="127000" dist="50800" dir="2700000">
              <a:srgbClr val="00C2CB">
                <a:alpha val="30000"/>
              </a:srgbClr>
            </a:outerShdw>
          </a:effectLst>
        </p:spPr>
      </p:sp>
      <p:sp>
        <p:nvSpPr>
          <p:cNvPr id="5" name="Text 3"/>
          <p:cNvSpPr/>
          <p:nvPr/>
        </p:nvSpPr>
        <p:spPr>
          <a:xfrm>
            <a:off x="274320" y="1234440"/>
            <a:ext cx="2011680" cy="384048"/>
          </a:xfrm>
          <a:prstGeom prst="rect">
            <a:avLst/>
          </a:prstGeom>
          <a:noFill/>
          <a:ln/>
        </p:spPr>
        <p:txBody>
          <a:bodyPr wrap="square" rtlCol="0" anchor="ctr"/>
          <a:lstStyle/>
          <a:p>
            <a:pPr algn="ctr" indent="0" marL="0">
              <a:buNone/>
            </a:pPr>
            <a:r>
              <a:rPr lang="en-US" sz="1800" b="1" dirty="0">
                <a:solidFill>
                  <a:srgbClr val="00C2CB"/>
                </a:solidFill>
              </a:rPr>
              <a:t>PSNR</a:t>
            </a:r>
            <a:endParaRPr lang="en-US" sz="1800" dirty="0"/>
          </a:p>
        </p:txBody>
      </p:sp>
      <p:sp>
        <p:nvSpPr>
          <p:cNvPr id="6" name="Text 4"/>
          <p:cNvSpPr/>
          <p:nvPr/>
        </p:nvSpPr>
        <p:spPr>
          <a:xfrm>
            <a:off x="274320" y="1600200"/>
            <a:ext cx="2011680" cy="256032"/>
          </a:xfrm>
          <a:prstGeom prst="rect">
            <a:avLst/>
          </a:prstGeom>
          <a:noFill/>
          <a:ln/>
        </p:spPr>
        <p:txBody>
          <a:bodyPr wrap="square" rtlCol="0" anchor="ctr"/>
          <a:lstStyle/>
          <a:p>
            <a:pPr algn="ctr" indent="0" marL="0">
              <a:buNone/>
            </a:pPr>
            <a:r>
              <a:rPr lang="en-US" sz="1000" dirty="0">
                <a:solidFill>
                  <a:srgbClr val="8BACC8"/>
                </a:solidFill>
              </a:rPr>
              <a:t>dB</a:t>
            </a:r>
            <a:endParaRPr lang="en-US" sz="1000" dirty="0"/>
          </a:p>
        </p:txBody>
      </p:sp>
      <p:sp>
        <p:nvSpPr>
          <p:cNvPr id="7" name="Text 5"/>
          <p:cNvSpPr/>
          <p:nvPr/>
        </p:nvSpPr>
        <p:spPr>
          <a:xfrm>
            <a:off x="411480" y="1920240"/>
            <a:ext cx="1737360" cy="402336"/>
          </a:xfrm>
          <a:prstGeom prst="rect">
            <a:avLst/>
          </a:prstGeom>
          <a:noFill/>
          <a:ln/>
        </p:spPr>
        <p:txBody>
          <a:bodyPr wrap="square" rtlCol="0" anchor="ctr"/>
          <a:lstStyle/>
          <a:p>
            <a:pPr algn="ctr" indent="0" marL="0">
              <a:buNone/>
            </a:pPr>
            <a:r>
              <a:rPr lang="en-US" sz="1300" dirty="0">
                <a:solidFill>
                  <a:srgbClr val="8BACC8"/>
                </a:solidFill>
              </a:rPr>
              <a:t>v1  26.6</a:t>
            </a:r>
            <a:endParaRPr lang="en-US" sz="1300" dirty="0"/>
          </a:p>
        </p:txBody>
      </p:sp>
      <p:sp>
        <p:nvSpPr>
          <p:cNvPr id="8" name="Text 6"/>
          <p:cNvSpPr/>
          <p:nvPr/>
        </p:nvSpPr>
        <p:spPr>
          <a:xfrm>
            <a:off x="411480" y="2423160"/>
            <a:ext cx="1737360" cy="402336"/>
          </a:xfrm>
          <a:prstGeom prst="rect">
            <a:avLst/>
          </a:prstGeom>
          <a:noFill/>
          <a:ln/>
        </p:spPr>
        <p:txBody>
          <a:bodyPr wrap="square" rtlCol="0" anchor="ctr"/>
          <a:lstStyle/>
          <a:p>
            <a:pPr algn="ctr" indent="0" marL="0">
              <a:buNone/>
            </a:pPr>
            <a:r>
              <a:rPr lang="en-US" sz="1300" dirty="0">
                <a:solidFill>
                  <a:srgbClr val="8BACC8"/>
                </a:solidFill>
              </a:rPr>
              <a:t>v2  25.9</a:t>
            </a:r>
            <a:endParaRPr lang="en-US" sz="1300" dirty="0"/>
          </a:p>
        </p:txBody>
      </p:sp>
      <p:sp>
        <p:nvSpPr>
          <p:cNvPr id="9" name="Shape 7"/>
          <p:cNvSpPr/>
          <p:nvPr/>
        </p:nvSpPr>
        <p:spPr>
          <a:xfrm>
            <a:off x="384048" y="3017520"/>
            <a:ext cx="1792224" cy="685800"/>
          </a:xfrm>
          <a:prstGeom prst="roundRect">
            <a:avLst>
              <a:gd name="adj" fmla="val 10667"/>
            </a:avLst>
          </a:prstGeom>
          <a:solidFill>
            <a:srgbClr val="00C2CB"/>
          </a:solidFill>
          <a:ln/>
        </p:spPr>
      </p:sp>
      <p:sp>
        <p:nvSpPr>
          <p:cNvPr id="10" name="Text 8"/>
          <p:cNvSpPr/>
          <p:nvPr/>
        </p:nvSpPr>
        <p:spPr>
          <a:xfrm>
            <a:off x="411480" y="3035808"/>
            <a:ext cx="411480" cy="274320"/>
          </a:xfrm>
          <a:prstGeom prst="rect">
            <a:avLst/>
          </a:prstGeom>
          <a:noFill/>
          <a:ln/>
        </p:spPr>
        <p:txBody>
          <a:bodyPr wrap="square" rtlCol="0" anchor="ctr"/>
          <a:lstStyle/>
          <a:p>
            <a:pPr indent="0" marL="0">
              <a:buNone/>
            </a:pPr>
            <a:r>
              <a:rPr lang="en-US" sz="900" b="1" dirty="0">
                <a:solidFill>
                  <a:srgbClr val="0A1628"/>
                </a:solidFill>
              </a:rPr>
              <a:t>v3</a:t>
            </a:r>
            <a:endParaRPr lang="en-US" sz="900" dirty="0"/>
          </a:p>
        </p:txBody>
      </p:sp>
      <p:sp>
        <p:nvSpPr>
          <p:cNvPr id="11" name="Text 9"/>
          <p:cNvSpPr/>
          <p:nvPr/>
        </p:nvSpPr>
        <p:spPr>
          <a:xfrm>
            <a:off x="384048" y="3200400"/>
            <a:ext cx="1792224" cy="411480"/>
          </a:xfrm>
          <a:prstGeom prst="rect">
            <a:avLst/>
          </a:prstGeom>
          <a:noFill/>
          <a:ln/>
        </p:spPr>
        <p:txBody>
          <a:bodyPr wrap="square" rtlCol="0" anchor="ctr"/>
          <a:lstStyle/>
          <a:p>
            <a:pPr algn="ctr" indent="0" marL="0">
              <a:buNone/>
            </a:pPr>
            <a:r>
              <a:rPr lang="en-US" sz="2200" b="1" dirty="0">
                <a:solidFill>
                  <a:srgbClr val="0A1628"/>
                </a:solidFill>
              </a:rPr>
              <a:t>40.6</a:t>
            </a:r>
            <a:endParaRPr lang="en-US" sz="2200" dirty="0"/>
          </a:p>
        </p:txBody>
      </p:sp>
      <p:sp>
        <p:nvSpPr>
          <p:cNvPr id="12" name="Shape 10"/>
          <p:cNvSpPr/>
          <p:nvPr/>
        </p:nvSpPr>
        <p:spPr>
          <a:xfrm>
            <a:off x="2441448" y="1143000"/>
            <a:ext cx="2011680" cy="3474720"/>
          </a:xfrm>
          <a:prstGeom prst="roundRect">
            <a:avLst>
              <a:gd name="adj" fmla="val 5455"/>
            </a:avLst>
          </a:prstGeom>
          <a:solidFill>
            <a:srgbClr val="0D2137"/>
          </a:solidFill>
          <a:ln/>
          <a:effectLst>
            <a:outerShdw sx="100000" sy="100000" kx="0" ky="0" algn="bl" rotWithShape="0" blurRad="127000" dist="50800" dir="2700000">
              <a:srgbClr val="22C55E">
                <a:alpha val="30000"/>
              </a:srgbClr>
            </a:outerShdw>
          </a:effectLst>
        </p:spPr>
      </p:sp>
      <p:sp>
        <p:nvSpPr>
          <p:cNvPr id="13" name="Text 11"/>
          <p:cNvSpPr/>
          <p:nvPr/>
        </p:nvSpPr>
        <p:spPr>
          <a:xfrm>
            <a:off x="2441448" y="1234440"/>
            <a:ext cx="2011680" cy="384048"/>
          </a:xfrm>
          <a:prstGeom prst="rect">
            <a:avLst/>
          </a:prstGeom>
          <a:noFill/>
          <a:ln/>
        </p:spPr>
        <p:txBody>
          <a:bodyPr wrap="square" rtlCol="0" anchor="ctr"/>
          <a:lstStyle/>
          <a:p>
            <a:pPr algn="ctr" indent="0" marL="0">
              <a:buNone/>
            </a:pPr>
            <a:r>
              <a:rPr lang="en-US" sz="1800" b="1" dirty="0">
                <a:solidFill>
                  <a:srgbClr val="22C55E"/>
                </a:solidFill>
              </a:rPr>
              <a:t>SAM</a:t>
            </a:r>
            <a:endParaRPr lang="en-US" sz="1800" dirty="0"/>
          </a:p>
        </p:txBody>
      </p:sp>
      <p:sp>
        <p:nvSpPr>
          <p:cNvPr id="14" name="Text 12"/>
          <p:cNvSpPr/>
          <p:nvPr/>
        </p:nvSpPr>
        <p:spPr>
          <a:xfrm>
            <a:off x="2441448" y="1600200"/>
            <a:ext cx="2011680" cy="256032"/>
          </a:xfrm>
          <a:prstGeom prst="rect">
            <a:avLst/>
          </a:prstGeom>
          <a:noFill/>
          <a:ln/>
        </p:spPr>
        <p:txBody>
          <a:bodyPr wrap="square" rtlCol="0" anchor="ctr"/>
          <a:lstStyle/>
          <a:p>
            <a:pPr algn="ctr" indent="0" marL="0">
              <a:buNone/>
            </a:pPr>
            <a:r>
              <a:rPr lang="en-US" sz="1000" dirty="0">
                <a:solidFill>
                  <a:srgbClr val="8BACC8"/>
                </a:solidFill>
              </a:rPr>
              <a:t>°</a:t>
            </a:r>
            <a:endParaRPr lang="en-US" sz="1000" dirty="0"/>
          </a:p>
        </p:txBody>
      </p:sp>
      <p:sp>
        <p:nvSpPr>
          <p:cNvPr id="15" name="Text 13"/>
          <p:cNvSpPr/>
          <p:nvPr/>
        </p:nvSpPr>
        <p:spPr>
          <a:xfrm>
            <a:off x="2578608" y="1920240"/>
            <a:ext cx="1737360" cy="402336"/>
          </a:xfrm>
          <a:prstGeom prst="rect">
            <a:avLst/>
          </a:prstGeom>
          <a:noFill/>
          <a:ln/>
        </p:spPr>
        <p:txBody>
          <a:bodyPr wrap="square" rtlCol="0" anchor="ctr"/>
          <a:lstStyle/>
          <a:p>
            <a:pPr algn="ctr" indent="0" marL="0">
              <a:buNone/>
            </a:pPr>
            <a:r>
              <a:rPr lang="en-US" sz="1300" dirty="0">
                <a:solidFill>
                  <a:srgbClr val="8BACC8"/>
                </a:solidFill>
              </a:rPr>
              <a:t>v1  6.17</a:t>
            </a:r>
            <a:endParaRPr lang="en-US" sz="1300" dirty="0"/>
          </a:p>
        </p:txBody>
      </p:sp>
      <p:sp>
        <p:nvSpPr>
          <p:cNvPr id="16" name="Text 14"/>
          <p:cNvSpPr/>
          <p:nvPr/>
        </p:nvSpPr>
        <p:spPr>
          <a:xfrm>
            <a:off x="2578608" y="2423160"/>
            <a:ext cx="1737360" cy="402336"/>
          </a:xfrm>
          <a:prstGeom prst="rect">
            <a:avLst/>
          </a:prstGeom>
          <a:noFill/>
          <a:ln/>
        </p:spPr>
        <p:txBody>
          <a:bodyPr wrap="square" rtlCol="0" anchor="ctr"/>
          <a:lstStyle/>
          <a:p>
            <a:pPr algn="ctr" indent="0" marL="0">
              <a:buNone/>
            </a:pPr>
            <a:r>
              <a:rPr lang="en-US" sz="1300" dirty="0">
                <a:solidFill>
                  <a:srgbClr val="8BACC8"/>
                </a:solidFill>
              </a:rPr>
              <a:t>v2  5.37</a:t>
            </a:r>
            <a:endParaRPr lang="en-US" sz="1300" dirty="0"/>
          </a:p>
        </p:txBody>
      </p:sp>
      <p:sp>
        <p:nvSpPr>
          <p:cNvPr id="17" name="Shape 15"/>
          <p:cNvSpPr/>
          <p:nvPr/>
        </p:nvSpPr>
        <p:spPr>
          <a:xfrm>
            <a:off x="2551176" y="3017520"/>
            <a:ext cx="1792224" cy="685800"/>
          </a:xfrm>
          <a:prstGeom prst="roundRect">
            <a:avLst>
              <a:gd name="adj" fmla="val 10667"/>
            </a:avLst>
          </a:prstGeom>
          <a:solidFill>
            <a:srgbClr val="22C55E"/>
          </a:solidFill>
          <a:ln/>
        </p:spPr>
      </p:sp>
      <p:sp>
        <p:nvSpPr>
          <p:cNvPr id="18" name="Text 16"/>
          <p:cNvSpPr/>
          <p:nvPr/>
        </p:nvSpPr>
        <p:spPr>
          <a:xfrm>
            <a:off x="2578608" y="3035808"/>
            <a:ext cx="411480" cy="274320"/>
          </a:xfrm>
          <a:prstGeom prst="rect">
            <a:avLst/>
          </a:prstGeom>
          <a:noFill/>
          <a:ln/>
        </p:spPr>
        <p:txBody>
          <a:bodyPr wrap="square" rtlCol="0" anchor="ctr"/>
          <a:lstStyle/>
          <a:p>
            <a:pPr indent="0" marL="0">
              <a:buNone/>
            </a:pPr>
            <a:r>
              <a:rPr lang="en-US" sz="900" b="1" dirty="0">
                <a:solidFill>
                  <a:srgbClr val="0A1628"/>
                </a:solidFill>
              </a:rPr>
              <a:t>v3</a:t>
            </a:r>
            <a:endParaRPr lang="en-US" sz="900" dirty="0"/>
          </a:p>
        </p:txBody>
      </p:sp>
      <p:sp>
        <p:nvSpPr>
          <p:cNvPr id="19" name="Text 17"/>
          <p:cNvSpPr/>
          <p:nvPr/>
        </p:nvSpPr>
        <p:spPr>
          <a:xfrm>
            <a:off x="2551176" y="3200400"/>
            <a:ext cx="1792224" cy="411480"/>
          </a:xfrm>
          <a:prstGeom prst="rect">
            <a:avLst/>
          </a:prstGeom>
          <a:noFill/>
          <a:ln/>
        </p:spPr>
        <p:txBody>
          <a:bodyPr wrap="square" rtlCol="0" anchor="ctr"/>
          <a:lstStyle/>
          <a:p>
            <a:pPr algn="ctr" indent="0" marL="0">
              <a:buNone/>
            </a:pPr>
            <a:r>
              <a:rPr lang="en-US" sz="2200" b="1" dirty="0">
                <a:solidFill>
                  <a:srgbClr val="0A1628"/>
                </a:solidFill>
              </a:rPr>
              <a:t>1.55</a:t>
            </a:r>
            <a:endParaRPr lang="en-US" sz="2200" dirty="0"/>
          </a:p>
        </p:txBody>
      </p:sp>
      <p:sp>
        <p:nvSpPr>
          <p:cNvPr id="20" name="Shape 18"/>
          <p:cNvSpPr/>
          <p:nvPr/>
        </p:nvSpPr>
        <p:spPr>
          <a:xfrm>
            <a:off x="4608576" y="1143000"/>
            <a:ext cx="2011680" cy="3474720"/>
          </a:xfrm>
          <a:prstGeom prst="roundRect">
            <a:avLst>
              <a:gd name="adj" fmla="val 5455"/>
            </a:avLst>
          </a:prstGeom>
          <a:solidFill>
            <a:srgbClr val="0D2137"/>
          </a:solidFill>
          <a:ln/>
          <a:effectLst>
            <a:outerShdw sx="100000" sy="100000" kx="0" ky="0" algn="bl" rotWithShape="0" blurRad="127000" dist="50800" dir="2700000">
              <a:srgbClr val="F59E0B">
                <a:alpha val="30000"/>
              </a:srgbClr>
            </a:outerShdw>
          </a:effectLst>
        </p:spPr>
      </p:sp>
      <p:sp>
        <p:nvSpPr>
          <p:cNvPr id="21" name="Text 19"/>
          <p:cNvSpPr/>
          <p:nvPr/>
        </p:nvSpPr>
        <p:spPr>
          <a:xfrm>
            <a:off x="4608576" y="1234440"/>
            <a:ext cx="2011680" cy="384048"/>
          </a:xfrm>
          <a:prstGeom prst="rect">
            <a:avLst/>
          </a:prstGeom>
          <a:noFill/>
          <a:ln/>
        </p:spPr>
        <p:txBody>
          <a:bodyPr wrap="square" rtlCol="0" anchor="ctr"/>
          <a:lstStyle/>
          <a:p>
            <a:pPr algn="ctr" indent="0" marL="0">
              <a:buNone/>
            </a:pPr>
            <a:r>
              <a:rPr lang="en-US" sz="1800" b="1" dirty="0">
                <a:solidFill>
                  <a:srgbClr val="F59E0B"/>
                </a:solidFill>
              </a:rPr>
              <a:t>ERGAS</a:t>
            </a:r>
            <a:endParaRPr lang="en-US" sz="1800" dirty="0"/>
          </a:p>
        </p:txBody>
      </p:sp>
      <p:sp>
        <p:nvSpPr>
          <p:cNvPr id="22" name="Text 20"/>
          <p:cNvSpPr/>
          <p:nvPr/>
        </p:nvSpPr>
        <p:spPr>
          <a:xfrm>
            <a:off x="4745736" y="1920240"/>
            <a:ext cx="1737360" cy="402336"/>
          </a:xfrm>
          <a:prstGeom prst="rect">
            <a:avLst/>
          </a:prstGeom>
          <a:noFill/>
          <a:ln/>
        </p:spPr>
        <p:txBody>
          <a:bodyPr wrap="square" rtlCol="0" anchor="ctr"/>
          <a:lstStyle/>
          <a:p>
            <a:pPr algn="ctr" indent="0" marL="0">
              <a:buNone/>
            </a:pPr>
            <a:r>
              <a:rPr lang="en-US" sz="1300" dirty="0">
                <a:solidFill>
                  <a:srgbClr val="8BACC8"/>
                </a:solidFill>
              </a:rPr>
              <a:t>v1  4.86</a:t>
            </a:r>
            <a:endParaRPr lang="en-US" sz="1300" dirty="0"/>
          </a:p>
        </p:txBody>
      </p:sp>
      <p:sp>
        <p:nvSpPr>
          <p:cNvPr id="23" name="Text 21"/>
          <p:cNvSpPr/>
          <p:nvPr/>
        </p:nvSpPr>
        <p:spPr>
          <a:xfrm>
            <a:off x="4745736" y="2423160"/>
            <a:ext cx="1737360" cy="402336"/>
          </a:xfrm>
          <a:prstGeom prst="rect">
            <a:avLst/>
          </a:prstGeom>
          <a:noFill/>
          <a:ln/>
        </p:spPr>
        <p:txBody>
          <a:bodyPr wrap="square" rtlCol="0" anchor="ctr"/>
          <a:lstStyle/>
          <a:p>
            <a:pPr algn="ctr" indent="0" marL="0">
              <a:buNone/>
            </a:pPr>
            <a:r>
              <a:rPr lang="en-US" sz="1300" dirty="0">
                <a:solidFill>
                  <a:srgbClr val="8BACC8"/>
                </a:solidFill>
              </a:rPr>
              <a:t>v2  5.30</a:t>
            </a:r>
            <a:endParaRPr lang="en-US" sz="1300" dirty="0"/>
          </a:p>
        </p:txBody>
      </p:sp>
      <p:sp>
        <p:nvSpPr>
          <p:cNvPr id="24" name="Shape 22"/>
          <p:cNvSpPr/>
          <p:nvPr/>
        </p:nvSpPr>
        <p:spPr>
          <a:xfrm>
            <a:off x="4718304" y="3017520"/>
            <a:ext cx="1792224" cy="685800"/>
          </a:xfrm>
          <a:prstGeom prst="roundRect">
            <a:avLst>
              <a:gd name="adj" fmla="val 10667"/>
            </a:avLst>
          </a:prstGeom>
          <a:solidFill>
            <a:srgbClr val="F59E0B"/>
          </a:solidFill>
          <a:ln/>
        </p:spPr>
      </p:sp>
      <p:sp>
        <p:nvSpPr>
          <p:cNvPr id="25" name="Text 23"/>
          <p:cNvSpPr/>
          <p:nvPr/>
        </p:nvSpPr>
        <p:spPr>
          <a:xfrm>
            <a:off x="4745736" y="3035808"/>
            <a:ext cx="411480" cy="274320"/>
          </a:xfrm>
          <a:prstGeom prst="rect">
            <a:avLst/>
          </a:prstGeom>
          <a:noFill/>
          <a:ln/>
        </p:spPr>
        <p:txBody>
          <a:bodyPr wrap="square" rtlCol="0" anchor="ctr"/>
          <a:lstStyle/>
          <a:p>
            <a:pPr indent="0" marL="0">
              <a:buNone/>
            </a:pPr>
            <a:r>
              <a:rPr lang="en-US" sz="900" b="1" dirty="0">
                <a:solidFill>
                  <a:srgbClr val="0A1628"/>
                </a:solidFill>
              </a:rPr>
              <a:t>v3</a:t>
            </a:r>
            <a:endParaRPr lang="en-US" sz="900" dirty="0"/>
          </a:p>
        </p:txBody>
      </p:sp>
      <p:sp>
        <p:nvSpPr>
          <p:cNvPr id="26" name="Text 24"/>
          <p:cNvSpPr/>
          <p:nvPr/>
        </p:nvSpPr>
        <p:spPr>
          <a:xfrm>
            <a:off x="4718304" y="3200400"/>
            <a:ext cx="1792224" cy="411480"/>
          </a:xfrm>
          <a:prstGeom prst="rect">
            <a:avLst/>
          </a:prstGeom>
          <a:noFill/>
          <a:ln/>
        </p:spPr>
        <p:txBody>
          <a:bodyPr wrap="square" rtlCol="0" anchor="ctr"/>
          <a:lstStyle/>
          <a:p>
            <a:pPr algn="ctr" indent="0" marL="0">
              <a:buNone/>
            </a:pPr>
            <a:r>
              <a:rPr lang="en-US" sz="2200" b="1" dirty="0">
                <a:solidFill>
                  <a:srgbClr val="0A1628"/>
                </a:solidFill>
              </a:rPr>
              <a:t>0.148</a:t>
            </a:r>
            <a:endParaRPr lang="en-US" sz="2200" dirty="0"/>
          </a:p>
        </p:txBody>
      </p:sp>
      <p:sp>
        <p:nvSpPr>
          <p:cNvPr id="27" name="Shape 25"/>
          <p:cNvSpPr/>
          <p:nvPr/>
        </p:nvSpPr>
        <p:spPr>
          <a:xfrm>
            <a:off x="6775704" y="1143000"/>
            <a:ext cx="2011680" cy="3474720"/>
          </a:xfrm>
          <a:prstGeom prst="roundRect">
            <a:avLst>
              <a:gd name="adj" fmla="val 5455"/>
            </a:avLst>
          </a:prstGeom>
          <a:solidFill>
            <a:srgbClr val="0D2137"/>
          </a:solidFill>
          <a:ln/>
          <a:effectLst>
            <a:outerShdw sx="100000" sy="100000" kx="0" ky="0" algn="bl" rotWithShape="0" blurRad="127000" dist="50800" dir="2700000">
              <a:srgbClr val="A78BFA">
                <a:alpha val="30000"/>
              </a:srgbClr>
            </a:outerShdw>
          </a:effectLst>
        </p:spPr>
      </p:sp>
      <p:sp>
        <p:nvSpPr>
          <p:cNvPr id="28" name="Text 26"/>
          <p:cNvSpPr/>
          <p:nvPr/>
        </p:nvSpPr>
        <p:spPr>
          <a:xfrm>
            <a:off x="6775704" y="1234440"/>
            <a:ext cx="2011680" cy="384048"/>
          </a:xfrm>
          <a:prstGeom prst="rect">
            <a:avLst/>
          </a:prstGeom>
          <a:noFill/>
          <a:ln/>
        </p:spPr>
        <p:txBody>
          <a:bodyPr wrap="square" rtlCol="0" anchor="ctr"/>
          <a:lstStyle/>
          <a:p>
            <a:pPr algn="ctr" indent="0" marL="0">
              <a:buNone/>
            </a:pPr>
            <a:r>
              <a:rPr lang="en-US" sz="1800" b="1" dirty="0">
                <a:solidFill>
                  <a:srgbClr val="A78BFA"/>
                </a:solidFill>
              </a:rPr>
              <a:t>SSIM</a:t>
            </a:r>
            <a:endParaRPr lang="en-US" sz="1800" dirty="0"/>
          </a:p>
        </p:txBody>
      </p:sp>
      <p:sp>
        <p:nvSpPr>
          <p:cNvPr id="29" name="Text 27"/>
          <p:cNvSpPr/>
          <p:nvPr/>
        </p:nvSpPr>
        <p:spPr>
          <a:xfrm>
            <a:off x="6912864" y="1920240"/>
            <a:ext cx="1737360" cy="402336"/>
          </a:xfrm>
          <a:prstGeom prst="rect">
            <a:avLst/>
          </a:prstGeom>
          <a:noFill/>
          <a:ln/>
        </p:spPr>
        <p:txBody>
          <a:bodyPr wrap="square" rtlCol="0" anchor="ctr"/>
          <a:lstStyle/>
          <a:p>
            <a:pPr algn="ctr" indent="0" marL="0">
              <a:buNone/>
            </a:pPr>
            <a:r>
              <a:rPr lang="en-US" sz="1300" dirty="0">
                <a:solidFill>
                  <a:srgbClr val="8BACC8"/>
                </a:solidFill>
              </a:rPr>
              <a:t>v1  —</a:t>
            </a:r>
            <a:endParaRPr lang="en-US" sz="1300" dirty="0"/>
          </a:p>
        </p:txBody>
      </p:sp>
      <p:sp>
        <p:nvSpPr>
          <p:cNvPr id="30" name="Text 28"/>
          <p:cNvSpPr/>
          <p:nvPr/>
        </p:nvSpPr>
        <p:spPr>
          <a:xfrm>
            <a:off x="6912864" y="2423160"/>
            <a:ext cx="1737360" cy="402336"/>
          </a:xfrm>
          <a:prstGeom prst="rect">
            <a:avLst/>
          </a:prstGeom>
          <a:noFill/>
          <a:ln/>
        </p:spPr>
        <p:txBody>
          <a:bodyPr wrap="square" rtlCol="0" anchor="ctr"/>
          <a:lstStyle/>
          <a:p>
            <a:pPr algn="ctr" indent="0" marL="0">
              <a:buNone/>
            </a:pPr>
            <a:r>
              <a:rPr lang="en-US" sz="1300" dirty="0">
                <a:solidFill>
                  <a:srgbClr val="8BACC8"/>
                </a:solidFill>
              </a:rPr>
              <a:t>v2  —</a:t>
            </a:r>
            <a:endParaRPr lang="en-US" sz="1300" dirty="0"/>
          </a:p>
        </p:txBody>
      </p:sp>
      <p:sp>
        <p:nvSpPr>
          <p:cNvPr id="31" name="Shape 29"/>
          <p:cNvSpPr/>
          <p:nvPr/>
        </p:nvSpPr>
        <p:spPr>
          <a:xfrm>
            <a:off x="6885432" y="3017520"/>
            <a:ext cx="1792224" cy="685800"/>
          </a:xfrm>
          <a:prstGeom prst="roundRect">
            <a:avLst>
              <a:gd name="adj" fmla="val 10667"/>
            </a:avLst>
          </a:prstGeom>
          <a:solidFill>
            <a:srgbClr val="A78BFA"/>
          </a:solidFill>
          <a:ln/>
        </p:spPr>
      </p:sp>
      <p:sp>
        <p:nvSpPr>
          <p:cNvPr id="32" name="Text 30"/>
          <p:cNvSpPr/>
          <p:nvPr/>
        </p:nvSpPr>
        <p:spPr>
          <a:xfrm>
            <a:off x="6912864" y="3035808"/>
            <a:ext cx="411480" cy="274320"/>
          </a:xfrm>
          <a:prstGeom prst="rect">
            <a:avLst/>
          </a:prstGeom>
          <a:noFill/>
          <a:ln/>
        </p:spPr>
        <p:txBody>
          <a:bodyPr wrap="square" rtlCol="0" anchor="ctr"/>
          <a:lstStyle/>
          <a:p>
            <a:pPr indent="0" marL="0">
              <a:buNone/>
            </a:pPr>
            <a:r>
              <a:rPr lang="en-US" sz="900" b="1" dirty="0">
                <a:solidFill>
                  <a:srgbClr val="0A1628"/>
                </a:solidFill>
              </a:rPr>
              <a:t>v3</a:t>
            </a:r>
            <a:endParaRPr lang="en-US" sz="900" dirty="0"/>
          </a:p>
        </p:txBody>
      </p:sp>
      <p:sp>
        <p:nvSpPr>
          <p:cNvPr id="33" name="Text 31"/>
          <p:cNvSpPr/>
          <p:nvPr/>
        </p:nvSpPr>
        <p:spPr>
          <a:xfrm>
            <a:off x="6885432" y="3200400"/>
            <a:ext cx="1792224" cy="411480"/>
          </a:xfrm>
          <a:prstGeom prst="rect">
            <a:avLst/>
          </a:prstGeom>
          <a:noFill/>
          <a:ln/>
        </p:spPr>
        <p:txBody>
          <a:bodyPr wrap="square" rtlCol="0" anchor="ctr"/>
          <a:lstStyle/>
          <a:p>
            <a:pPr algn="ctr" indent="0" marL="0">
              <a:buNone/>
            </a:pPr>
            <a:r>
              <a:rPr lang="en-US" sz="2200" b="1" dirty="0">
                <a:solidFill>
                  <a:srgbClr val="0A1628"/>
                </a:solidFill>
              </a:rPr>
              <a:t>0.986</a:t>
            </a:r>
            <a:endParaRPr lang="en-US" sz="2200" dirty="0"/>
          </a:p>
        </p:txBody>
      </p:sp>
      <p:sp>
        <p:nvSpPr>
          <p:cNvPr id="34" name="Shape 32"/>
          <p:cNvSpPr/>
          <p:nvPr/>
        </p:nvSpPr>
        <p:spPr>
          <a:xfrm>
            <a:off x="274320" y="4663440"/>
            <a:ext cx="8595360" cy="347472"/>
          </a:xfrm>
          <a:prstGeom prst="roundRect">
            <a:avLst>
              <a:gd name="adj" fmla="val 15789"/>
            </a:avLst>
          </a:prstGeom>
          <a:solidFill>
            <a:srgbClr val="065A82">
              <a:alpha val="20000"/>
            </a:srgbClr>
          </a:solidFill>
          <a:ln/>
        </p:spPr>
      </p:sp>
      <p:sp>
        <p:nvSpPr>
          <p:cNvPr id="35" name="Text 33"/>
          <p:cNvSpPr/>
          <p:nvPr/>
        </p:nvSpPr>
        <p:spPr>
          <a:xfrm>
            <a:off x="274320" y="4663440"/>
            <a:ext cx="8595360" cy="347472"/>
          </a:xfrm>
          <a:prstGeom prst="rect">
            <a:avLst/>
          </a:prstGeom>
          <a:noFill/>
          <a:ln/>
        </p:spPr>
        <p:txBody>
          <a:bodyPr wrap="square" rtlCol="0" anchor="ctr"/>
          <a:lstStyle/>
          <a:p>
            <a:pPr algn="ctr" indent="0" marL="0">
              <a:buNone/>
            </a:pPr>
            <a:r>
              <a:rPr lang="en-US" sz="1200" b="1" dirty="0">
                <a:solidFill>
                  <a:srgbClr val="00C2CB"/>
                </a:solidFill>
              </a:rPr>
              <a:t>v3 vs v2 : PSNR +14.7 dB  |  SAM −71%  |  ERGAS −97%  |  SSIM 0.986</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AFF"/>
        </a:solidFill>
      </p:bgPr>
    </p:bg>
    <p:spTree>
      <p:nvGrpSpPr>
        <p:cNvPr id="1" name=""/>
        <p:cNvGrpSpPr/>
        <p:nvPr/>
      </p:nvGrpSpPr>
      <p:grpSpPr>
        <a:xfrm>
          <a:off x="0" y="0"/>
          <a:ext cx="0" cy="0"/>
          <a:chOff x="0" y="0"/>
          <a:chExt cx="0" cy="0"/>
        </a:xfrm>
      </p:grpSpPr>
      <p:sp>
        <p:nvSpPr>
          <p:cNvPr id="2" name="Text 0"/>
          <p:cNvSpPr/>
          <p:nvPr/>
        </p:nvSpPr>
        <p:spPr>
          <a:xfrm>
            <a:off x="457200" y="228600"/>
            <a:ext cx="8229600" cy="475488"/>
          </a:xfrm>
          <a:prstGeom prst="rect">
            <a:avLst/>
          </a:prstGeom>
          <a:noFill/>
          <a:ln/>
        </p:spPr>
        <p:txBody>
          <a:bodyPr wrap="square" rtlCol="0" anchor="ctr"/>
          <a:lstStyle/>
          <a:p>
            <a:pPr indent="0" marL="0">
              <a:buNone/>
            </a:pPr>
            <a:r>
              <a:rPr lang="en-US" sz="2400" b="1" dirty="0">
                <a:solidFill>
                  <a:srgbClr val="0A1628"/>
                </a:solidFill>
                <a:latin typeface="Cambria" pitchFamily="34" charset="0"/>
                <a:ea typeface="Cambria" pitchFamily="34" charset="-122"/>
                <a:cs typeface="Cambria" pitchFamily="34" charset="-120"/>
              </a:rPr>
              <a:t>Application Réelle – Andorre (Juillet 2022)</a:t>
            </a:r>
            <a:endParaRPr lang="en-US" sz="2400" dirty="0"/>
          </a:p>
        </p:txBody>
      </p:sp>
      <p:sp>
        <p:nvSpPr>
          <p:cNvPr id="3" name="Text 1"/>
          <p:cNvSpPr/>
          <p:nvPr/>
        </p:nvSpPr>
        <p:spPr>
          <a:xfrm>
            <a:off x="457200" y="749808"/>
            <a:ext cx="8229600" cy="274320"/>
          </a:xfrm>
          <a:prstGeom prst="rect">
            <a:avLst/>
          </a:prstGeom>
          <a:noFill/>
          <a:ln/>
        </p:spPr>
        <p:txBody>
          <a:bodyPr wrap="square" rtlCol="0" anchor="ctr"/>
          <a:lstStyle/>
          <a:p>
            <a:pPr indent="0" marL="0">
              <a:buNone/>
            </a:pPr>
            <a:r>
              <a:rPr lang="en-US" sz="1000" i="1" dirty="0">
                <a:solidFill>
                  <a:srgbClr val="64748B"/>
                </a:solidFill>
              </a:rPr>
              <a:t>Mode non-supervisé · Données réelles Sentinel-2 (10m) + Sentinel-3 (300m) · Patch 480×480 px · 17 bandes</a:t>
            </a:r>
            <a:endParaRPr lang="en-US" sz="1000" dirty="0"/>
          </a:p>
        </p:txBody>
      </p:sp>
      <p:sp>
        <p:nvSpPr>
          <p:cNvPr id="4" name="Shape 2"/>
          <p:cNvSpPr/>
          <p:nvPr/>
        </p:nvSpPr>
        <p:spPr>
          <a:xfrm>
            <a:off x="320040" y="1143000"/>
            <a:ext cx="2743200" cy="1554480"/>
          </a:xfrm>
          <a:prstGeom prst="roundRect">
            <a:avLst>
              <a:gd name="adj" fmla="val 5882"/>
            </a:avLst>
          </a:prstGeom>
          <a:solidFill>
            <a:srgbClr val="FFFFFF"/>
          </a:solidFill>
          <a:ln/>
          <a:effectLst>
            <a:outerShdw sx="100000" sy="100000" kx="0" ky="0" algn="bl" rotWithShape="0" blurRad="101600" dist="25400" dir="2700000">
              <a:srgbClr val="000000">
                <a:alpha val="10000"/>
              </a:srgbClr>
            </a:outerShdw>
          </a:effectLst>
        </p:spPr>
      </p:sp>
      <p:sp>
        <p:nvSpPr>
          <p:cNvPr id="5" name="Text 3"/>
          <p:cNvSpPr/>
          <p:nvPr/>
        </p:nvSpPr>
        <p:spPr>
          <a:xfrm>
            <a:off x="411480" y="1207008"/>
            <a:ext cx="2560320" cy="329184"/>
          </a:xfrm>
          <a:prstGeom prst="rect">
            <a:avLst/>
          </a:prstGeom>
          <a:noFill/>
          <a:ln/>
        </p:spPr>
        <p:txBody>
          <a:bodyPr wrap="square" rtlCol="0" anchor="ctr"/>
          <a:lstStyle/>
          <a:p>
            <a:pPr indent="0" marL="0">
              <a:buNone/>
            </a:pPr>
            <a:r>
              <a:rPr lang="en-US" sz="1100" b="1" dirty="0">
                <a:solidFill>
                  <a:srgbClr val="64748B"/>
                </a:solidFill>
              </a:rPr>
              <a:t>Cohérence Spectrale</a:t>
            </a:r>
            <a:endParaRPr lang="en-US" sz="1100" dirty="0"/>
          </a:p>
        </p:txBody>
      </p:sp>
      <p:sp>
        <p:nvSpPr>
          <p:cNvPr id="6" name="Text 4"/>
          <p:cNvSpPr/>
          <p:nvPr/>
        </p:nvSpPr>
        <p:spPr>
          <a:xfrm>
            <a:off x="411480" y="1554480"/>
            <a:ext cx="2560320" cy="512064"/>
          </a:xfrm>
          <a:prstGeom prst="rect">
            <a:avLst/>
          </a:prstGeom>
          <a:noFill/>
          <a:ln/>
        </p:spPr>
        <p:txBody>
          <a:bodyPr wrap="square" rtlCol="0" anchor="ctr"/>
          <a:lstStyle/>
          <a:p>
            <a:pPr algn="ctr" indent="0" marL="0">
              <a:buNone/>
            </a:pPr>
            <a:r>
              <a:rPr lang="en-US" sz="3000" b="1" dirty="0">
                <a:solidFill>
                  <a:srgbClr val="22C55E"/>
                </a:solidFill>
              </a:rPr>
              <a:t>0.9+</a:t>
            </a:r>
            <a:endParaRPr lang="en-US" sz="3000" dirty="0"/>
          </a:p>
        </p:txBody>
      </p:sp>
      <p:sp>
        <p:nvSpPr>
          <p:cNvPr id="7" name="Text 5"/>
          <p:cNvSpPr/>
          <p:nvPr/>
        </p:nvSpPr>
        <p:spPr>
          <a:xfrm>
            <a:off x="411480" y="2103120"/>
            <a:ext cx="2560320" cy="475488"/>
          </a:xfrm>
          <a:prstGeom prst="rect">
            <a:avLst/>
          </a:prstGeom>
          <a:noFill/>
          <a:ln/>
        </p:spPr>
        <p:txBody>
          <a:bodyPr wrap="square" rtlCol="0" anchor="ctr"/>
          <a:lstStyle/>
          <a:p>
            <a:pPr algn="ctr" indent="0" marL="0">
              <a:buNone/>
            </a:pPr>
            <a:r>
              <a:rPr lang="en-US" sz="950" dirty="0">
                <a:solidFill>
                  <a:srgbClr val="64748B"/>
                </a:solidFill>
              </a:rPr>
              <a:t>bandes Oa1–Oa10</a:t>
            </a:r>
            <a:endParaRPr lang="en-US" sz="950" dirty="0"/>
          </a:p>
          <a:p>
            <a:pPr algn="ctr" indent="0" marL="0">
              <a:buNone/>
            </a:pPr>
            <a:r>
              <a:rPr lang="en-US" sz="950" dirty="0">
                <a:solidFill>
                  <a:srgbClr val="64748B"/>
                </a:solidFill>
              </a:rPr>
              <a:t>corrélation Pearson</a:t>
            </a:r>
            <a:endParaRPr lang="en-US" sz="950" dirty="0"/>
          </a:p>
        </p:txBody>
      </p:sp>
      <p:sp>
        <p:nvSpPr>
          <p:cNvPr id="8" name="Shape 6"/>
          <p:cNvSpPr/>
          <p:nvPr/>
        </p:nvSpPr>
        <p:spPr>
          <a:xfrm>
            <a:off x="3200400" y="1143000"/>
            <a:ext cx="2743200" cy="1554480"/>
          </a:xfrm>
          <a:prstGeom prst="roundRect">
            <a:avLst>
              <a:gd name="adj" fmla="val 5882"/>
            </a:avLst>
          </a:prstGeom>
          <a:solidFill>
            <a:srgbClr val="FFFFFF"/>
          </a:solidFill>
          <a:ln/>
          <a:effectLst>
            <a:outerShdw sx="100000" sy="100000" kx="0" ky="0" algn="bl" rotWithShape="0" blurRad="101600" dist="25400" dir="2700000">
              <a:srgbClr val="000000">
                <a:alpha val="10000"/>
              </a:srgbClr>
            </a:outerShdw>
          </a:effectLst>
        </p:spPr>
      </p:sp>
      <p:sp>
        <p:nvSpPr>
          <p:cNvPr id="9" name="Text 7"/>
          <p:cNvSpPr/>
          <p:nvPr/>
        </p:nvSpPr>
        <p:spPr>
          <a:xfrm>
            <a:off x="3291840" y="1207008"/>
            <a:ext cx="2560320" cy="329184"/>
          </a:xfrm>
          <a:prstGeom prst="rect">
            <a:avLst/>
          </a:prstGeom>
          <a:noFill/>
          <a:ln/>
        </p:spPr>
        <p:txBody>
          <a:bodyPr wrap="square" rtlCol="0" anchor="ctr"/>
          <a:lstStyle/>
          <a:p>
            <a:pPr indent="0" marL="0">
              <a:buNone/>
            </a:pPr>
            <a:r>
              <a:rPr lang="en-US" sz="1100" b="1" dirty="0">
                <a:solidFill>
                  <a:srgbClr val="64748B"/>
                </a:solidFill>
              </a:rPr>
              <a:t>Netteté Spatiale</a:t>
            </a:r>
            <a:endParaRPr lang="en-US" sz="1100" dirty="0"/>
          </a:p>
        </p:txBody>
      </p:sp>
      <p:sp>
        <p:nvSpPr>
          <p:cNvPr id="10" name="Text 8"/>
          <p:cNvSpPr/>
          <p:nvPr/>
        </p:nvSpPr>
        <p:spPr>
          <a:xfrm>
            <a:off x="3291840" y="1554480"/>
            <a:ext cx="2560320" cy="512064"/>
          </a:xfrm>
          <a:prstGeom prst="rect">
            <a:avLst/>
          </a:prstGeom>
          <a:noFill/>
          <a:ln/>
        </p:spPr>
        <p:txBody>
          <a:bodyPr wrap="square" rtlCol="0" anchor="ctr"/>
          <a:lstStyle/>
          <a:p>
            <a:pPr algn="ctr" indent="0" marL="0">
              <a:buNone/>
            </a:pPr>
            <a:r>
              <a:rPr lang="en-US" sz="3000" b="1" dirty="0">
                <a:solidFill>
                  <a:srgbClr val="00C2CB"/>
                </a:solidFill>
              </a:rPr>
              <a:t>×3+</a:t>
            </a:r>
            <a:endParaRPr lang="en-US" sz="3000" dirty="0"/>
          </a:p>
        </p:txBody>
      </p:sp>
      <p:sp>
        <p:nvSpPr>
          <p:cNvPr id="11" name="Text 9"/>
          <p:cNvSpPr/>
          <p:nvPr/>
        </p:nvSpPr>
        <p:spPr>
          <a:xfrm>
            <a:off x="3291840" y="2103120"/>
            <a:ext cx="2560320" cy="475488"/>
          </a:xfrm>
          <a:prstGeom prst="rect">
            <a:avLst/>
          </a:prstGeom>
          <a:noFill/>
          <a:ln/>
        </p:spPr>
        <p:txBody>
          <a:bodyPr wrap="square" rtlCol="0" anchor="ctr"/>
          <a:lstStyle/>
          <a:p>
            <a:pPr algn="ctr" indent="0" marL="0">
              <a:buNone/>
            </a:pPr>
            <a:r>
              <a:rPr lang="en-US" sz="950" dirty="0">
                <a:solidFill>
                  <a:srgbClr val="64748B"/>
                </a:solidFill>
              </a:rPr>
              <a:t>vs S3 upsamplé</a:t>
            </a:r>
            <a:endParaRPr lang="en-US" sz="950" dirty="0"/>
          </a:p>
          <a:p>
            <a:pPr algn="ctr" indent="0" marL="0">
              <a:buNone/>
            </a:pPr>
            <a:r>
              <a:rPr lang="en-US" sz="950" dirty="0">
                <a:solidFill>
                  <a:srgbClr val="64748B"/>
                </a:solidFill>
              </a:rPr>
              <a:t>(variance Laplacien)</a:t>
            </a:r>
            <a:endParaRPr lang="en-US" sz="950" dirty="0"/>
          </a:p>
        </p:txBody>
      </p:sp>
      <p:sp>
        <p:nvSpPr>
          <p:cNvPr id="12" name="Shape 10"/>
          <p:cNvSpPr/>
          <p:nvPr/>
        </p:nvSpPr>
        <p:spPr>
          <a:xfrm>
            <a:off x="6080760" y="1143000"/>
            <a:ext cx="2743200" cy="1554480"/>
          </a:xfrm>
          <a:prstGeom prst="roundRect">
            <a:avLst>
              <a:gd name="adj" fmla="val 5882"/>
            </a:avLst>
          </a:prstGeom>
          <a:solidFill>
            <a:srgbClr val="FFFFFF"/>
          </a:solidFill>
          <a:ln/>
          <a:effectLst>
            <a:outerShdw sx="100000" sy="100000" kx="0" ky="0" algn="bl" rotWithShape="0" blurRad="101600" dist="25400" dir="2700000">
              <a:srgbClr val="000000">
                <a:alpha val="10000"/>
              </a:srgbClr>
            </a:outerShdw>
          </a:effectLst>
        </p:spPr>
      </p:sp>
      <p:sp>
        <p:nvSpPr>
          <p:cNvPr id="13" name="Text 11"/>
          <p:cNvSpPr/>
          <p:nvPr/>
        </p:nvSpPr>
        <p:spPr>
          <a:xfrm>
            <a:off x="6172200" y="1207008"/>
            <a:ext cx="2560320" cy="329184"/>
          </a:xfrm>
          <a:prstGeom prst="rect">
            <a:avLst/>
          </a:prstGeom>
          <a:noFill/>
          <a:ln/>
        </p:spPr>
        <p:txBody>
          <a:bodyPr wrap="square" rtlCol="0" anchor="ctr"/>
          <a:lstStyle/>
          <a:p>
            <a:pPr indent="0" marL="0">
              <a:buNone/>
            </a:pPr>
            <a:r>
              <a:rPr lang="en-US" sz="1100" b="1" dirty="0">
                <a:solidFill>
                  <a:srgbClr val="64748B"/>
                </a:solidFill>
              </a:rPr>
              <a:t>Mode Non-Supervisé</a:t>
            </a:r>
            <a:endParaRPr lang="en-US" sz="1100" dirty="0"/>
          </a:p>
        </p:txBody>
      </p:sp>
      <p:sp>
        <p:nvSpPr>
          <p:cNvPr id="14" name="Text 12"/>
          <p:cNvSpPr/>
          <p:nvPr/>
        </p:nvSpPr>
        <p:spPr>
          <a:xfrm>
            <a:off x="6172200" y="1554480"/>
            <a:ext cx="2560320" cy="512064"/>
          </a:xfrm>
          <a:prstGeom prst="rect">
            <a:avLst/>
          </a:prstGeom>
          <a:noFill/>
          <a:ln/>
        </p:spPr>
        <p:txBody>
          <a:bodyPr wrap="square" rtlCol="0" anchor="ctr"/>
          <a:lstStyle/>
          <a:p>
            <a:pPr algn="ctr" indent="0" marL="0">
              <a:buNone/>
            </a:pPr>
            <a:r>
              <a:rPr lang="en-US" sz="3000" b="1" dirty="0">
                <a:solidFill>
                  <a:srgbClr val="F59E0B"/>
                </a:solidFill>
              </a:rPr>
              <a:t>4000</a:t>
            </a:r>
            <a:endParaRPr lang="en-US" sz="3000" dirty="0"/>
          </a:p>
        </p:txBody>
      </p:sp>
      <p:sp>
        <p:nvSpPr>
          <p:cNvPr id="15" name="Text 13"/>
          <p:cNvSpPr/>
          <p:nvPr/>
        </p:nvSpPr>
        <p:spPr>
          <a:xfrm>
            <a:off x="6172200" y="2103120"/>
            <a:ext cx="2560320" cy="475488"/>
          </a:xfrm>
          <a:prstGeom prst="rect">
            <a:avLst/>
          </a:prstGeom>
          <a:noFill/>
          <a:ln/>
        </p:spPr>
        <p:txBody>
          <a:bodyPr wrap="square" rtlCol="0" anchor="ctr"/>
          <a:lstStyle/>
          <a:p>
            <a:pPr algn="ctr" indent="0" marL="0">
              <a:buNone/>
            </a:pPr>
            <a:r>
              <a:rPr lang="en-US" sz="950" dirty="0">
                <a:solidFill>
                  <a:srgbClr val="64748B"/>
                </a:solidFill>
              </a:rPr>
              <a:t>époques · early stop</a:t>
            </a:r>
            <a:endParaRPr lang="en-US" sz="950" dirty="0"/>
          </a:p>
          <a:p>
            <a:pPr algn="ctr" indent="0" marL="0">
              <a:buNone/>
            </a:pPr>
            <a:r>
              <a:rPr lang="en-US" sz="950" dirty="0">
                <a:solidFill>
                  <a:srgbClr val="64748B"/>
                </a:solidFill>
              </a:rPr>
              <a:t>sans vérité terrain</a:t>
            </a:r>
            <a:endParaRPr lang="en-US" sz="950" dirty="0"/>
          </a:p>
        </p:txBody>
      </p:sp>
      <p:sp>
        <p:nvSpPr>
          <p:cNvPr id="16" name="Shape 14"/>
          <p:cNvSpPr/>
          <p:nvPr/>
        </p:nvSpPr>
        <p:spPr>
          <a:xfrm>
            <a:off x="320040" y="2834640"/>
            <a:ext cx="8503920" cy="2011680"/>
          </a:xfrm>
          <a:prstGeom prst="roundRect">
            <a:avLst>
              <a:gd name="adj" fmla="val 4545"/>
            </a:avLst>
          </a:prstGeom>
          <a:solidFill>
            <a:srgbClr val="FFFFFF"/>
          </a:solidFill>
          <a:ln/>
          <a:effectLst>
            <a:outerShdw sx="100000" sy="100000" kx="0" ky="0" algn="bl" rotWithShape="0" blurRad="76200" dist="25400" dir="2700000">
              <a:srgbClr val="000000">
                <a:alpha val="8000"/>
              </a:srgbClr>
            </a:outerShdw>
          </a:effectLst>
        </p:spPr>
      </p:sp>
      <p:sp>
        <p:nvSpPr>
          <p:cNvPr id="17" name="Text 15"/>
          <p:cNvSpPr/>
          <p:nvPr/>
        </p:nvSpPr>
        <p:spPr>
          <a:xfrm>
            <a:off x="457200" y="2907792"/>
            <a:ext cx="3657600" cy="347472"/>
          </a:xfrm>
          <a:prstGeom prst="rect">
            <a:avLst/>
          </a:prstGeom>
          <a:noFill/>
          <a:ln/>
        </p:spPr>
        <p:txBody>
          <a:bodyPr wrap="square" rtlCol="0" anchor="ctr"/>
          <a:lstStyle/>
          <a:p>
            <a:pPr indent="0" marL="0">
              <a:buNone/>
            </a:pPr>
            <a:r>
              <a:rPr lang="en-US" sz="1200" b="1" dirty="0">
                <a:solidFill>
                  <a:srgbClr val="065A82"/>
                </a:solidFill>
              </a:rPr>
              <a:t>Observations de l'Évaluation Sans Vérité Terrain</a:t>
            </a:r>
            <a:endParaRPr lang="en-US" sz="1200" dirty="0"/>
          </a:p>
        </p:txBody>
      </p:sp>
      <p:sp>
        <p:nvSpPr>
          <p:cNvPr id="18" name="Shape 16"/>
          <p:cNvSpPr/>
          <p:nvPr/>
        </p:nvSpPr>
        <p:spPr>
          <a:xfrm>
            <a:off x="438912" y="3337560"/>
            <a:ext cx="256032" cy="256032"/>
          </a:xfrm>
          <a:prstGeom prst="ellipse">
            <a:avLst/>
          </a:prstGeom>
          <a:solidFill>
            <a:srgbClr val="D1FAE5"/>
          </a:solidFill>
          <a:ln/>
        </p:spPr>
      </p:sp>
      <p:sp>
        <p:nvSpPr>
          <p:cNvPr id="19" name="Text 17"/>
          <p:cNvSpPr/>
          <p:nvPr/>
        </p:nvSpPr>
        <p:spPr>
          <a:xfrm>
            <a:off x="438912" y="3337560"/>
            <a:ext cx="256032" cy="256032"/>
          </a:xfrm>
          <a:prstGeom prst="rect">
            <a:avLst/>
          </a:prstGeom>
          <a:noFill/>
          <a:ln/>
        </p:spPr>
        <p:txBody>
          <a:bodyPr wrap="square" lIns="0" tIns="0" rIns="0" bIns="0" rtlCol="0" anchor="ctr"/>
          <a:lstStyle/>
          <a:p>
            <a:pPr algn="ctr" indent="0" marL="0">
              <a:buNone/>
            </a:pPr>
            <a:r>
              <a:rPr lang="en-US" sz="1000" dirty="0">
                <a:solidFill>
                  <a:srgbClr val="22C55E"/>
                </a:solidFill>
              </a:rPr>
              <a:t>✓</a:t>
            </a:r>
            <a:endParaRPr lang="en-US" sz="1000" dirty="0"/>
          </a:p>
        </p:txBody>
      </p:sp>
      <p:sp>
        <p:nvSpPr>
          <p:cNvPr id="20" name="Text 18"/>
          <p:cNvSpPr/>
          <p:nvPr/>
        </p:nvSpPr>
        <p:spPr>
          <a:xfrm>
            <a:off x="777240" y="3319272"/>
            <a:ext cx="7863840" cy="329184"/>
          </a:xfrm>
          <a:prstGeom prst="rect">
            <a:avLst/>
          </a:prstGeom>
          <a:noFill/>
          <a:ln/>
        </p:spPr>
        <p:txBody>
          <a:bodyPr wrap="square" rtlCol="0" anchor="ctr"/>
          <a:lstStyle/>
          <a:p>
            <a:pPr indent="0" marL="0">
              <a:buNone/>
            </a:pPr>
            <a:r>
              <a:rPr lang="en-US" sz="950" dirty="0">
                <a:solidFill>
                  <a:srgbClr val="64748B"/>
                </a:solidFill>
              </a:rPr>
              <a:t>Bandes Oa1–Oa10 (400–750 nm) : cohérence Pearson &gt; 0.9 (seuil 'excellent')</a:t>
            </a:r>
            <a:endParaRPr lang="en-US" sz="950" dirty="0"/>
          </a:p>
        </p:txBody>
      </p:sp>
      <p:sp>
        <p:nvSpPr>
          <p:cNvPr id="21" name="Shape 19"/>
          <p:cNvSpPr/>
          <p:nvPr/>
        </p:nvSpPr>
        <p:spPr>
          <a:xfrm>
            <a:off x="438912" y="3721608"/>
            <a:ext cx="256032" cy="256032"/>
          </a:xfrm>
          <a:prstGeom prst="ellipse">
            <a:avLst/>
          </a:prstGeom>
          <a:solidFill>
            <a:srgbClr val="FEF3C7"/>
          </a:solidFill>
          <a:ln/>
        </p:spPr>
      </p:sp>
      <p:sp>
        <p:nvSpPr>
          <p:cNvPr id="22" name="Text 20"/>
          <p:cNvSpPr/>
          <p:nvPr/>
        </p:nvSpPr>
        <p:spPr>
          <a:xfrm>
            <a:off x="438912" y="3721608"/>
            <a:ext cx="256032" cy="256032"/>
          </a:xfrm>
          <a:prstGeom prst="rect">
            <a:avLst/>
          </a:prstGeom>
          <a:noFill/>
          <a:ln/>
        </p:spPr>
        <p:txBody>
          <a:bodyPr wrap="square" lIns="0" tIns="0" rIns="0" bIns="0" rtlCol="0" anchor="ctr"/>
          <a:lstStyle/>
          <a:p>
            <a:pPr algn="ctr" indent="0" marL="0">
              <a:buNone/>
            </a:pPr>
            <a:r>
              <a:rPr lang="en-US" sz="1000" dirty="0">
                <a:solidFill>
                  <a:srgbClr val="F59E0B"/>
                </a:solidFill>
              </a:rPr>
              <a:t>⚠</a:t>
            </a:r>
            <a:endParaRPr lang="en-US" sz="1000" dirty="0"/>
          </a:p>
        </p:txBody>
      </p:sp>
      <p:sp>
        <p:nvSpPr>
          <p:cNvPr id="23" name="Text 21"/>
          <p:cNvSpPr/>
          <p:nvPr/>
        </p:nvSpPr>
        <p:spPr>
          <a:xfrm>
            <a:off x="777240" y="3703320"/>
            <a:ext cx="7863840" cy="329184"/>
          </a:xfrm>
          <a:prstGeom prst="rect">
            <a:avLst/>
          </a:prstGeom>
          <a:noFill/>
          <a:ln/>
        </p:spPr>
        <p:txBody>
          <a:bodyPr wrap="square" rtlCol="0" anchor="ctr"/>
          <a:lstStyle/>
          <a:p>
            <a:pPr indent="0" marL="0">
              <a:buNone/>
            </a:pPr>
            <a:r>
              <a:rPr lang="en-US" sz="950" dirty="0">
                <a:solidFill>
                  <a:srgbClr val="64748B"/>
                </a:solidFill>
              </a:rPr>
              <a:t>Bandes Oa11–Oa17 (680–865 nm) : cohérence 0.5–0.85 (bandes difficiles, signal S3 plus bruité)</a:t>
            </a:r>
            <a:endParaRPr lang="en-US" sz="950" dirty="0"/>
          </a:p>
        </p:txBody>
      </p:sp>
      <p:sp>
        <p:nvSpPr>
          <p:cNvPr id="24" name="Shape 22"/>
          <p:cNvSpPr/>
          <p:nvPr/>
        </p:nvSpPr>
        <p:spPr>
          <a:xfrm>
            <a:off x="438912" y="4105656"/>
            <a:ext cx="256032" cy="256032"/>
          </a:xfrm>
          <a:prstGeom prst="ellipse">
            <a:avLst/>
          </a:prstGeom>
          <a:solidFill>
            <a:srgbClr val="D1FAE5"/>
          </a:solidFill>
          <a:ln/>
        </p:spPr>
      </p:sp>
      <p:sp>
        <p:nvSpPr>
          <p:cNvPr id="25" name="Text 23"/>
          <p:cNvSpPr/>
          <p:nvPr/>
        </p:nvSpPr>
        <p:spPr>
          <a:xfrm>
            <a:off x="438912" y="4105656"/>
            <a:ext cx="256032" cy="256032"/>
          </a:xfrm>
          <a:prstGeom prst="rect">
            <a:avLst/>
          </a:prstGeom>
          <a:noFill/>
          <a:ln/>
        </p:spPr>
        <p:txBody>
          <a:bodyPr wrap="square" lIns="0" tIns="0" rIns="0" bIns="0" rtlCol="0" anchor="ctr"/>
          <a:lstStyle/>
          <a:p>
            <a:pPr algn="ctr" indent="0" marL="0">
              <a:buNone/>
            </a:pPr>
            <a:r>
              <a:rPr lang="en-US" sz="1000" dirty="0">
                <a:solidFill>
                  <a:srgbClr val="22C55E"/>
                </a:solidFill>
              </a:rPr>
              <a:t>✓</a:t>
            </a:r>
            <a:endParaRPr lang="en-US" sz="1000" dirty="0"/>
          </a:p>
        </p:txBody>
      </p:sp>
      <p:sp>
        <p:nvSpPr>
          <p:cNvPr id="26" name="Text 24"/>
          <p:cNvSpPr/>
          <p:nvPr/>
        </p:nvSpPr>
        <p:spPr>
          <a:xfrm>
            <a:off x="777240" y="4087368"/>
            <a:ext cx="7863840" cy="329184"/>
          </a:xfrm>
          <a:prstGeom prst="rect">
            <a:avLst/>
          </a:prstGeom>
          <a:noFill/>
          <a:ln/>
        </p:spPr>
        <p:txBody>
          <a:bodyPr wrap="square" rtlCol="0" anchor="ctr"/>
          <a:lstStyle/>
          <a:p>
            <a:pPr indent="0" marL="0">
              <a:buNone/>
            </a:pPr>
            <a:r>
              <a:rPr lang="en-US" sz="950" dirty="0">
                <a:solidFill>
                  <a:srgbClr val="64748B"/>
                </a:solidFill>
              </a:rPr>
              <a:t>Netteté spatiale : NL-JTAE v3 surpasse l'interpolation bilinéaire S3 sur toutes les bandes testées</a:t>
            </a:r>
            <a:endParaRPr lang="en-US" sz="950" dirty="0"/>
          </a:p>
        </p:txBody>
      </p:sp>
      <p:sp>
        <p:nvSpPr>
          <p:cNvPr id="27" name="Shape 25"/>
          <p:cNvSpPr/>
          <p:nvPr/>
        </p:nvSpPr>
        <p:spPr>
          <a:xfrm>
            <a:off x="438912" y="4489704"/>
            <a:ext cx="256032" cy="256032"/>
          </a:xfrm>
          <a:prstGeom prst="ellipse">
            <a:avLst/>
          </a:prstGeom>
          <a:solidFill>
            <a:srgbClr val="E0F2FE"/>
          </a:solidFill>
          <a:ln/>
        </p:spPr>
      </p:sp>
      <p:sp>
        <p:nvSpPr>
          <p:cNvPr id="28" name="Text 26"/>
          <p:cNvSpPr/>
          <p:nvPr/>
        </p:nvSpPr>
        <p:spPr>
          <a:xfrm>
            <a:off x="438912" y="4489704"/>
            <a:ext cx="256032" cy="256032"/>
          </a:xfrm>
          <a:prstGeom prst="rect">
            <a:avLst/>
          </a:prstGeom>
          <a:noFill/>
          <a:ln/>
        </p:spPr>
        <p:txBody>
          <a:bodyPr wrap="square" lIns="0" tIns="0" rIns="0" bIns="0" rtlCol="0" anchor="ctr"/>
          <a:lstStyle/>
          <a:p>
            <a:pPr algn="ctr" indent="0" marL="0">
              <a:buNone/>
            </a:pPr>
            <a:r>
              <a:rPr lang="en-US" sz="1000" dirty="0">
                <a:solidFill>
                  <a:srgbClr val="00C2CB"/>
                </a:solidFill>
              </a:rPr>
              <a:t>↗</a:t>
            </a:r>
            <a:endParaRPr lang="en-US" sz="1000" dirty="0"/>
          </a:p>
        </p:txBody>
      </p:sp>
      <p:sp>
        <p:nvSpPr>
          <p:cNvPr id="29" name="Text 27"/>
          <p:cNvSpPr/>
          <p:nvPr/>
        </p:nvSpPr>
        <p:spPr>
          <a:xfrm>
            <a:off x="777240" y="4471416"/>
            <a:ext cx="7863840" cy="329184"/>
          </a:xfrm>
          <a:prstGeom prst="rect">
            <a:avLst/>
          </a:prstGeom>
          <a:noFill/>
          <a:ln/>
        </p:spPr>
        <p:txBody>
          <a:bodyPr wrap="square" rtlCol="0" anchor="ctr"/>
          <a:lstStyle/>
          <a:p>
            <a:pPr indent="0" marL="0">
              <a:buNone/>
            </a:pPr>
            <a:r>
              <a:rPr lang="en-US" sz="950" dirty="0">
                <a:solidFill>
                  <a:srgbClr val="64748B"/>
                </a:solidFill>
              </a:rPr>
              <a:t>Spectre moyen reconstruit cohérent avec S3 brut · résidu spectral visible sur ~600–700 nm (zone chlorophylle)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457200" y="457200"/>
            <a:ext cx="45720" cy="45720"/>
          </a:xfrm>
          <a:prstGeom prst="ellipse">
            <a:avLst/>
          </a:prstGeom>
          <a:solidFill>
            <a:srgbClr val="FFFFFF">
              <a:alpha val="45000"/>
            </a:srgbClr>
          </a:solidFill>
          <a:ln w="12700">
            <a:solidFill>
              <a:srgbClr val="FFFFFF">
                <a:alpha val="45000"/>
              </a:srgbClr>
            </a:solidFill>
            <a:prstDash val="solid"/>
          </a:ln>
        </p:spPr>
      </p:sp>
      <p:sp>
        <p:nvSpPr>
          <p:cNvPr id="3" name="Shape 1"/>
          <p:cNvSpPr/>
          <p:nvPr/>
        </p:nvSpPr>
        <p:spPr>
          <a:xfrm>
            <a:off x="1920240" y="1188720"/>
            <a:ext cx="45720" cy="45720"/>
          </a:xfrm>
          <a:prstGeom prst="ellipse">
            <a:avLst/>
          </a:prstGeom>
          <a:solidFill>
            <a:srgbClr val="FFFFFF">
              <a:alpha val="45000"/>
            </a:srgbClr>
          </a:solidFill>
          <a:ln w="12700">
            <a:solidFill>
              <a:srgbClr val="FFFFFF">
                <a:alpha val="45000"/>
              </a:srgbClr>
            </a:solidFill>
            <a:prstDash val="solid"/>
          </a:ln>
        </p:spPr>
      </p:sp>
      <p:sp>
        <p:nvSpPr>
          <p:cNvPr id="4" name="Shape 2"/>
          <p:cNvSpPr/>
          <p:nvPr/>
        </p:nvSpPr>
        <p:spPr>
          <a:xfrm>
            <a:off x="4572000" y="365760"/>
            <a:ext cx="45720" cy="45720"/>
          </a:xfrm>
          <a:prstGeom prst="ellipse">
            <a:avLst/>
          </a:prstGeom>
          <a:solidFill>
            <a:srgbClr val="FFFFFF">
              <a:alpha val="45000"/>
            </a:srgbClr>
          </a:solidFill>
          <a:ln w="12700">
            <a:solidFill>
              <a:srgbClr val="FFFFFF">
                <a:alpha val="45000"/>
              </a:srgbClr>
            </a:solidFill>
            <a:prstDash val="solid"/>
          </a:ln>
        </p:spPr>
      </p:sp>
      <p:sp>
        <p:nvSpPr>
          <p:cNvPr id="5" name="Shape 3"/>
          <p:cNvSpPr/>
          <p:nvPr/>
        </p:nvSpPr>
        <p:spPr>
          <a:xfrm>
            <a:off x="7132320" y="731520"/>
            <a:ext cx="45720" cy="45720"/>
          </a:xfrm>
          <a:prstGeom prst="ellipse">
            <a:avLst/>
          </a:prstGeom>
          <a:solidFill>
            <a:srgbClr val="FFFFFF">
              <a:alpha val="45000"/>
            </a:srgbClr>
          </a:solidFill>
          <a:ln w="12700">
            <a:solidFill>
              <a:srgbClr val="FFFFFF">
                <a:alpha val="45000"/>
              </a:srgbClr>
            </a:solidFill>
            <a:prstDash val="solid"/>
          </a:ln>
        </p:spPr>
      </p:sp>
      <p:sp>
        <p:nvSpPr>
          <p:cNvPr id="6" name="Shape 4"/>
          <p:cNvSpPr/>
          <p:nvPr/>
        </p:nvSpPr>
        <p:spPr>
          <a:xfrm>
            <a:off x="8686800" y="1371600"/>
            <a:ext cx="45720" cy="45720"/>
          </a:xfrm>
          <a:prstGeom prst="ellipse">
            <a:avLst/>
          </a:prstGeom>
          <a:solidFill>
            <a:srgbClr val="FFFFFF">
              <a:alpha val="45000"/>
            </a:srgbClr>
          </a:solidFill>
          <a:ln w="12700">
            <a:solidFill>
              <a:srgbClr val="FFFFFF">
                <a:alpha val="45000"/>
              </a:srgbClr>
            </a:solidFill>
            <a:prstDash val="solid"/>
          </a:ln>
        </p:spPr>
      </p:sp>
      <p:sp>
        <p:nvSpPr>
          <p:cNvPr id="7" name="Shape 5"/>
          <p:cNvSpPr/>
          <p:nvPr/>
        </p:nvSpPr>
        <p:spPr>
          <a:xfrm>
            <a:off x="274320" y="3474720"/>
            <a:ext cx="45720" cy="45720"/>
          </a:xfrm>
          <a:prstGeom prst="ellipse">
            <a:avLst/>
          </a:prstGeom>
          <a:solidFill>
            <a:srgbClr val="FFFFFF">
              <a:alpha val="45000"/>
            </a:srgbClr>
          </a:solidFill>
          <a:ln w="12700">
            <a:solidFill>
              <a:srgbClr val="FFFFFF">
                <a:alpha val="45000"/>
              </a:srgbClr>
            </a:solidFill>
            <a:prstDash val="solid"/>
          </a:ln>
        </p:spPr>
      </p:sp>
      <p:sp>
        <p:nvSpPr>
          <p:cNvPr id="8" name="Shape 6"/>
          <p:cNvSpPr/>
          <p:nvPr/>
        </p:nvSpPr>
        <p:spPr>
          <a:xfrm>
            <a:off x="1645920" y="4114800"/>
            <a:ext cx="45720" cy="45720"/>
          </a:xfrm>
          <a:prstGeom prst="ellipse">
            <a:avLst/>
          </a:prstGeom>
          <a:solidFill>
            <a:srgbClr val="FFFFFF">
              <a:alpha val="45000"/>
            </a:srgbClr>
          </a:solidFill>
          <a:ln w="12700">
            <a:solidFill>
              <a:srgbClr val="FFFFFF">
                <a:alpha val="45000"/>
              </a:srgbClr>
            </a:solidFill>
            <a:prstDash val="solid"/>
          </a:ln>
        </p:spPr>
      </p:sp>
      <p:sp>
        <p:nvSpPr>
          <p:cNvPr id="9" name="Shape 7"/>
          <p:cNvSpPr/>
          <p:nvPr/>
        </p:nvSpPr>
        <p:spPr>
          <a:xfrm>
            <a:off x="8412480" y="3657600"/>
            <a:ext cx="45720" cy="45720"/>
          </a:xfrm>
          <a:prstGeom prst="ellipse">
            <a:avLst/>
          </a:prstGeom>
          <a:solidFill>
            <a:srgbClr val="FFFFFF">
              <a:alpha val="45000"/>
            </a:srgbClr>
          </a:solidFill>
          <a:ln w="12700">
            <a:solidFill>
              <a:srgbClr val="FFFFFF">
                <a:alpha val="45000"/>
              </a:srgbClr>
            </a:solidFill>
            <a:prstDash val="solid"/>
          </a:ln>
        </p:spPr>
      </p:sp>
      <p:sp>
        <p:nvSpPr>
          <p:cNvPr id="10" name="Shape 8"/>
          <p:cNvSpPr/>
          <p:nvPr/>
        </p:nvSpPr>
        <p:spPr>
          <a:xfrm>
            <a:off x="8778240" y="2560320"/>
            <a:ext cx="45720" cy="45720"/>
          </a:xfrm>
          <a:prstGeom prst="ellipse">
            <a:avLst/>
          </a:prstGeom>
          <a:solidFill>
            <a:srgbClr val="FFFFFF">
              <a:alpha val="45000"/>
            </a:srgbClr>
          </a:solidFill>
          <a:ln w="12700">
            <a:solidFill>
              <a:srgbClr val="FFFFFF">
                <a:alpha val="45000"/>
              </a:srgbClr>
            </a:solidFill>
            <a:prstDash val="solid"/>
          </a:ln>
        </p:spPr>
      </p:sp>
      <p:sp>
        <p:nvSpPr>
          <p:cNvPr id="11" name="Shape 9"/>
          <p:cNvSpPr/>
          <p:nvPr/>
        </p:nvSpPr>
        <p:spPr>
          <a:xfrm>
            <a:off x="4114800" y="4572000"/>
            <a:ext cx="45720" cy="45720"/>
          </a:xfrm>
          <a:prstGeom prst="ellipse">
            <a:avLst/>
          </a:prstGeom>
          <a:solidFill>
            <a:srgbClr val="FFFFFF">
              <a:alpha val="45000"/>
            </a:srgbClr>
          </a:solidFill>
          <a:ln w="12700">
            <a:solidFill>
              <a:srgbClr val="FFFFFF">
                <a:alpha val="45000"/>
              </a:srgbClr>
            </a:solidFill>
            <a:prstDash val="solid"/>
          </a:ln>
        </p:spPr>
      </p:sp>
      <p:sp>
        <p:nvSpPr>
          <p:cNvPr id="12" name="Text 10"/>
          <p:cNvSpPr/>
          <p:nvPr/>
        </p:nvSpPr>
        <p:spPr>
          <a:xfrm>
            <a:off x="457200" y="274320"/>
            <a:ext cx="8229600" cy="5029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Conclusion &amp; Perspectives</a:t>
            </a:r>
            <a:endParaRPr lang="en-US" sz="2800" dirty="0"/>
          </a:p>
        </p:txBody>
      </p:sp>
      <p:sp>
        <p:nvSpPr>
          <p:cNvPr id="13" name="Shape 11"/>
          <p:cNvSpPr/>
          <p:nvPr/>
        </p:nvSpPr>
        <p:spPr>
          <a:xfrm>
            <a:off x="320040" y="960120"/>
            <a:ext cx="4114800" cy="3611880"/>
          </a:xfrm>
          <a:prstGeom prst="roundRect">
            <a:avLst>
              <a:gd name="adj" fmla="val 3544"/>
            </a:avLst>
          </a:prstGeom>
          <a:solidFill>
            <a:srgbClr val="0D2137"/>
          </a:solidFill>
          <a:ln/>
        </p:spPr>
      </p:sp>
      <p:sp>
        <p:nvSpPr>
          <p:cNvPr id="14" name="Text 12"/>
          <p:cNvSpPr/>
          <p:nvPr/>
        </p:nvSpPr>
        <p:spPr>
          <a:xfrm>
            <a:off x="411480" y="1024128"/>
            <a:ext cx="3931920" cy="365760"/>
          </a:xfrm>
          <a:prstGeom prst="rect">
            <a:avLst/>
          </a:prstGeom>
          <a:noFill/>
          <a:ln/>
        </p:spPr>
        <p:txBody>
          <a:bodyPr wrap="square" rtlCol="0" anchor="ctr"/>
          <a:lstStyle/>
          <a:p>
            <a:pPr indent="0" marL="0">
              <a:buNone/>
            </a:pPr>
            <a:r>
              <a:rPr lang="en-US" sz="1400" b="1" dirty="0">
                <a:solidFill>
                  <a:srgbClr val="00C2CB"/>
                </a:solidFill>
              </a:rPr>
              <a:t>Bilan NL-JTAE v3</a:t>
            </a:r>
            <a:endParaRPr lang="en-US" sz="1400" dirty="0"/>
          </a:p>
        </p:txBody>
      </p:sp>
      <p:sp>
        <p:nvSpPr>
          <p:cNvPr id="15" name="Shape 13"/>
          <p:cNvSpPr/>
          <p:nvPr/>
        </p:nvSpPr>
        <p:spPr>
          <a:xfrm>
            <a:off x="411480" y="1463040"/>
            <a:ext cx="3931920" cy="475488"/>
          </a:xfrm>
          <a:prstGeom prst="roundRect">
            <a:avLst>
              <a:gd name="adj" fmla="val 13462"/>
            </a:avLst>
          </a:prstGeom>
          <a:solidFill>
            <a:srgbClr val="1E3A50"/>
          </a:solidFill>
          <a:ln/>
        </p:spPr>
      </p:sp>
      <p:sp>
        <p:nvSpPr>
          <p:cNvPr id="16" name="Text 14"/>
          <p:cNvSpPr/>
          <p:nvPr/>
        </p:nvSpPr>
        <p:spPr>
          <a:xfrm>
            <a:off x="502920" y="1490472"/>
            <a:ext cx="1554480" cy="420624"/>
          </a:xfrm>
          <a:prstGeom prst="rect">
            <a:avLst/>
          </a:prstGeom>
          <a:noFill/>
          <a:ln/>
        </p:spPr>
        <p:txBody>
          <a:bodyPr wrap="square" rtlCol="0" anchor="ctr"/>
          <a:lstStyle/>
          <a:p>
            <a:pPr indent="0" marL="0">
              <a:buNone/>
            </a:pPr>
            <a:r>
              <a:rPr lang="en-US" sz="1100" b="1" dirty="0">
                <a:solidFill>
                  <a:srgbClr val="00C2CB"/>
                </a:solidFill>
              </a:rPr>
              <a:t>PSNR 40.57 dB</a:t>
            </a:r>
            <a:endParaRPr lang="en-US" sz="1100" dirty="0"/>
          </a:p>
        </p:txBody>
      </p:sp>
      <p:sp>
        <p:nvSpPr>
          <p:cNvPr id="17" name="Text 15"/>
          <p:cNvSpPr/>
          <p:nvPr/>
        </p:nvSpPr>
        <p:spPr>
          <a:xfrm>
            <a:off x="2057400" y="1490472"/>
            <a:ext cx="2194560" cy="420624"/>
          </a:xfrm>
          <a:prstGeom prst="rect">
            <a:avLst/>
          </a:prstGeom>
          <a:noFill/>
          <a:ln/>
        </p:spPr>
        <p:txBody>
          <a:bodyPr wrap="square" rtlCol="0" anchor="ctr"/>
          <a:lstStyle/>
          <a:p>
            <a:pPr indent="0" marL="0">
              <a:buNone/>
            </a:pPr>
            <a:r>
              <a:rPr lang="en-US" sz="1000" dirty="0">
                <a:solidFill>
                  <a:srgbClr val="E8F4FD"/>
                </a:solidFill>
              </a:rPr>
              <a:t>vs 25.9 dB (v2) — gain de +14.7 dB</a:t>
            </a:r>
            <a:endParaRPr lang="en-US" sz="1000" dirty="0"/>
          </a:p>
        </p:txBody>
      </p:sp>
      <p:sp>
        <p:nvSpPr>
          <p:cNvPr id="18" name="Shape 16"/>
          <p:cNvSpPr/>
          <p:nvPr/>
        </p:nvSpPr>
        <p:spPr>
          <a:xfrm>
            <a:off x="411480" y="2029968"/>
            <a:ext cx="3931920" cy="475488"/>
          </a:xfrm>
          <a:prstGeom prst="roundRect">
            <a:avLst>
              <a:gd name="adj" fmla="val 13462"/>
            </a:avLst>
          </a:prstGeom>
          <a:solidFill>
            <a:srgbClr val="1E3A50"/>
          </a:solidFill>
          <a:ln/>
        </p:spPr>
      </p:sp>
      <p:sp>
        <p:nvSpPr>
          <p:cNvPr id="19" name="Text 17"/>
          <p:cNvSpPr/>
          <p:nvPr/>
        </p:nvSpPr>
        <p:spPr>
          <a:xfrm>
            <a:off x="502920" y="2057400"/>
            <a:ext cx="1554480" cy="420624"/>
          </a:xfrm>
          <a:prstGeom prst="rect">
            <a:avLst/>
          </a:prstGeom>
          <a:noFill/>
          <a:ln/>
        </p:spPr>
        <p:txBody>
          <a:bodyPr wrap="square" rtlCol="0" anchor="ctr"/>
          <a:lstStyle/>
          <a:p>
            <a:pPr indent="0" marL="0">
              <a:buNone/>
            </a:pPr>
            <a:r>
              <a:rPr lang="en-US" sz="1100" b="1" dirty="0">
                <a:solidFill>
                  <a:srgbClr val="00C2CB"/>
                </a:solidFill>
              </a:rPr>
              <a:t>SAM 1.55°</a:t>
            </a:r>
            <a:endParaRPr lang="en-US" sz="1100" dirty="0"/>
          </a:p>
        </p:txBody>
      </p:sp>
      <p:sp>
        <p:nvSpPr>
          <p:cNvPr id="20" name="Text 18"/>
          <p:cNvSpPr/>
          <p:nvPr/>
        </p:nvSpPr>
        <p:spPr>
          <a:xfrm>
            <a:off x="2057400" y="2057400"/>
            <a:ext cx="2194560" cy="420624"/>
          </a:xfrm>
          <a:prstGeom prst="rect">
            <a:avLst/>
          </a:prstGeom>
          <a:noFill/>
          <a:ln/>
        </p:spPr>
        <p:txBody>
          <a:bodyPr wrap="square" rtlCol="0" anchor="ctr"/>
          <a:lstStyle/>
          <a:p>
            <a:pPr indent="0" marL="0">
              <a:buNone/>
            </a:pPr>
            <a:r>
              <a:rPr lang="en-US" sz="1000" dirty="0">
                <a:solidFill>
                  <a:srgbClr val="E8F4FD"/>
                </a:solidFill>
              </a:rPr>
              <a:t>vs 5.37° (v2) — réduction de 71%</a:t>
            </a:r>
            <a:endParaRPr lang="en-US" sz="1000" dirty="0"/>
          </a:p>
        </p:txBody>
      </p:sp>
      <p:sp>
        <p:nvSpPr>
          <p:cNvPr id="21" name="Shape 19"/>
          <p:cNvSpPr/>
          <p:nvPr/>
        </p:nvSpPr>
        <p:spPr>
          <a:xfrm>
            <a:off x="411480" y="2596896"/>
            <a:ext cx="3931920" cy="475488"/>
          </a:xfrm>
          <a:prstGeom prst="roundRect">
            <a:avLst>
              <a:gd name="adj" fmla="val 13462"/>
            </a:avLst>
          </a:prstGeom>
          <a:solidFill>
            <a:srgbClr val="1E3A50"/>
          </a:solidFill>
          <a:ln/>
        </p:spPr>
      </p:sp>
      <p:sp>
        <p:nvSpPr>
          <p:cNvPr id="22" name="Text 20"/>
          <p:cNvSpPr/>
          <p:nvPr/>
        </p:nvSpPr>
        <p:spPr>
          <a:xfrm>
            <a:off x="502920" y="2624328"/>
            <a:ext cx="1554480" cy="420624"/>
          </a:xfrm>
          <a:prstGeom prst="rect">
            <a:avLst/>
          </a:prstGeom>
          <a:noFill/>
          <a:ln/>
        </p:spPr>
        <p:txBody>
          <a:bodyPr wrap="square" rtlCol="0" anchor="ctr"/>
          <a:lstStyle/>
          <a:p>
            <a:pPr indent="0" marL="0">
              <a:buNone/>
            </a:pPr>
            <a:r>
              <a:rPr lang="en-US" sz="1100" b="1" dirty="0">
                <a:solidFill>
                  <a:srgbClr val="00C2CB"/>
                </a:solidFill>
              </a:rPr>
              <a:t>ERGAS 0.148</a:t>
            </a:r>
            <a:endParaRPr lang="en-US" sz="1100" dirty="0"/>
          </a:p>
        </p:txBody>
      </p:sp>
      <p:sp>
        <p:nvSpPr>
          <p:cNvPr id="23" name="Text 21"/>
          <p:cNvSpPr/>
          <p:nvPr/>
        </p:nvSpPr>
        <p:spPr>
          <a:xfrm>
            <a:off x="2057400" y="2624328"/>
            <a:ext cx="2194560" cy="420624"/>
          </a:xfrm>
          <a:prstGeom prst="rect">
            <a:avLst/>
          </a:prstGeom>
          <a:noFill/>
          <a:ln/>
        </p:spPr>
        <p:txBody>
          <a:bodyPr wrap="square" rtlCol="0" anchor="ctr"/>
          <a:lstStyle/>
          <a:p>
            <a:pPr indent="0" marL="0">
              <a:buNone/>
            </a:pPr>
            <a:r>
              <a:rPr lang="en-US" sz="1000" dirty="0">
                <a:solidFill>
                  <a:srgbClr val="E8F4FD"/>
                </a:solidFill>
              </a:rPr>
              <a:t>vs 5.30 (v2) — réduction de 97%</a:t>
            </a:r>
            <a:endParaRPr lang="en-US" sz="1000" dirty="0"/>
          </a:p>
        </p:txBody>
      </p:sp>
      <p:sp>
        <p:nvSpPr>
          <p:cNvPr id="24" name="Shape 22"/>
          <p:cNvSpPr/>
          <p:nvPr/>
        </p:nvSpPr>
        <p:spPr>
          <a:xfrm>
            <a:off x="411480" y="3163824"/>
            <a:ext cx="3931920" cy="475488"/>
          </a:xfrm>
          <a:prstGeom prst="roundRect">
            <a:avLst>
              <a:gd name="adj" fmla="val 13462"/>
            </a:avLst>
          </a:prstGeom>
          <a:solidFill>
            <a:srgbClr val="1E3A50"/>
          </a:solidFill>
          <a:ln/>
        </p:spPr>
      </p:sp>
      <p:sp>
        <p:nvSpPr>
          <p:cNvPr id="25" name="Text 23"/>
          <p:cNvSpPr/>
          <p:nvPr/>
        </p:nvSpPr>
        <p:spPr>
          <a:xfrm>
            <a:off x="502920" y="3191256"/>
            <a:ext cx="1554480" cy="420624"/>
          </a:xfrm>
          <a:prstGeom prst="rect">
            <a:avLst/>
          </a:prstGeom>
          <a:noFill/>
          <a:ln/>
        </p:spPr>
        <p:txBody>
          <a:bodyPr wrap="square" rtlCol="0" anchor="ctr"/>
          <a:lstStyle/>
          <a:p>
            <a:pPr indent="0" marL="0">
              <a:buNone/>
            </a:pPr>
            <a:r>
              <a:rPr lang="en-US" sz="1100" b="1" dirty="0">
                <a:solidFill>
                  <a:srgbClr val="00C2CB"/>
                </a:solidFill>
              </a:rPr>
              <a:t>SSIM 0.986</a:t>
            </a:r>
            <a:endParaRPr lang="en-US" sz="1100" dirty="0"/>
          </a:p>
        </p:txBody>
      </p:sp>
      <p:sp>
        <p:nvSpPr>
          <p:cNvPr id="26" name="Text 24"/>
          <p:cNvSpPr/>
          <p:nvPr/>
        </p:nvSpPr>
        <p:spPr>
          <a:xfrm>
            <a:off x="2057400" y="3191256"/>
            <a:ext cx="2194560" cy="420624"/>
          </a:xfrm>
          <a:prstGeom prst="rect">
            <a:avLst/>
          </a:prstGeom>
          <a:noFill/>
          <a:ln/>
        </p:spPr>
        <p:txBody>
          <a:bodyPr wrap="square" rtlCol="0" anchor="ctr"/>
          <a:lstStyle/>
          <a:p>
            <a:pPr indent="0" marL="0">
              <a:buNone/>
            </a:pPr>
            <a:r>
              <a:rPr lang="en-US" sz="1000" dirty="0">
                <a:solidFill>
                  <a:srgbClr val="E8F4FD"/>
                </a:solidFill>
              </a:rPr>
              <a:t>Fidélité structurelle quasi-parfaite</a:t>
            </a:r>
            <a:endParaRPr lang="en-US" sz="1000" dirty="0"/>
          </a:p>
        </p:txBody>
      </p:sp>
      <p:sp>
        <p:nvSpPr>
          <p:cNvPr id="27" name="Shape 25"/>
          <p:cNvSpPr/>
          <p:nvPr/>
        </p:nvSpPr>
        <p:spPr>
          <a:xfrm>
            <a:off x="411480" y="3730752"/>
            <a:ext cx="3931920" cy="475488"/>
          </a:xfrm>
          <a:prstGeom prst="roundRect">
            <a:avLst>
              <a:gd name="adj" fmla="val 13462"/>
            </a:avLst>
          </a:prstGeom>
          <a:solidFill>
            <a:srgbClr val="1E3A50"/>
          </a:solidFill>
          <a:ln/>
        </p:spPr>
      </p:sp>
      <p:sp>
        <p:nvSpPr>
          <p:cNvPr id="28" name="Text 26"/>
          <p:cNvSpPr/>
          <p:nvPr/>
        </p:nvSpPr>
        <p:spPr>
          <a:xfrm>
            <a:off x="502920" y="3758184"/>
            <a:ext cx="1554480" cy="420624"/>
          </a:xfrm>
          <a:prstGeom prst="rect">
            <a:avLst/>
          </a:prstGeom>
          <a:noFill/>
          <a:ln/>
        </p:spPr>
        <p:txBody>
          <a:bodyPr wrap="square" rtlCol="0" anchor="ctr"/>
          <a:lstStyle/>
          <a:p>
            <a:pPr indent="0" marL="0">
              <a:buNone/>
            </a:pPr>
            <a:r>
              <a:rPr lang="en-US" sz="1100" b="1" dirty="0">
                <a:solidFill>
                  <a:srgbClr val="00C2CB"/>
                </a:solidFill>
              </a:rPr>
              <a:t>Mode non-supervisé</a:t>
            </a:r>
            <a:endParaRPr lang="en-US" sz="1100" dirty="0"/>
          </a:p>
        </p:txBody>
      </p:sp>
      <p:sp>
        <p:nvSpPr>
          <p:cNvPr id="29" name="Text 27"/>
          <p:cNvSpPr/>
          <p:nvPr/>
        </p:nvSpPr>
        <p:spPr>
          <a:xfrm>
            <a:off x="2057400" y="3758184"/>
            <a:ext cx="2194560" cy="420624"/>
          </a:xfrm>
          <a:prstGeom prst="rect">
            <a:avLst/>
          </a:prstGeom>
          <a:noFill/>
          <a:ln/>
        </p:spPr>
        <p:txBody>
          <a:bodyPr wrap="square" rtlCol="0" anchor="ctr"/>
          <a:lstStyle/>
          <a:p>
            <a:pPr indent="0" marL="0">
              <a:buNone/>
            </a:pPr>
            <a:r>
              <a:rPr lang="en-US" sz="1000" dirty="0">
                <a:solidFill>
                  <a:srgbClr val="E8F4FD"/>
                </a:solidFill>
              </a:rPr>
              <a:t>Déployé avec succès sur données réelles (Andorre)</a:t>
            </a:r>
            <a:endParaRPr lang="en-US" sz="1000" dirty="0"/>
          </a:p>
        </p:txBody>
      </p:sp>
      <p:sp>
        <p:nvSpPr>
          <p:cNvPr id="30" name="Shape 28"/>
          <p:cNvSpPr/>
          <p:nvPr/>
        </p:nvSpPr>
        <p:spPr>
          <a:xfrm>
            <a:off x="4709160" y="960120"/>
            <a:ext cx="4114800" cy="3611880"/>
          </a:xfrm>
          <a:prstGeom prst="roundRect">
            <a:avLst>
              <a:gd name="adj" fmla="val 3544"/>
            </a:avLst>
          </a:prstGeom>
          <a:solidFill>
            <a:srgbClr val="0D2137"/>
          </a:solidFill>
          <a:ln/>
        </p:spPr>
      </p:sp>
      <p:sp>
        <p:nvSpPr>
          <p:cNvPr id="31" name="Text 29"/>
          <p:cNvSpPr/>
          <p:nvPr/>
        </p:nvSpPr>
        <p:spPr>
          <a:xfrm>
            <a:off x="4800600" y="1024128"/>
            <a:ext cx="3931920" cy="365760"/>
          </a:xfrm>
          <a:prstGeom prst="rect">
            <a:avLst/>
          </a:prstGeom>
          <a:noFill/>
          <a:ln/>
        </p:spPr>
        <p:txBody>
          <a:bodyPr wrap="square" rtlCol="0" anchor="ctr"/>
          <a:lstStyle/>
          <a:p>
            <a:pPr indent="0" marL="0">
              <a:buNone/>
            </a:pPr>
            <a:r>
              <a:rPr lang="en-US" sz="1400" b="1" dirty="0">
                <a:solidFill>
                  <a:srgbClr val="F59E0B"/>
                </a:solidFill>
              </a:rPr>
              <a:t>Perspectives</a:t>
            </a:r>
            <a:endParaRPr lang="en-US" sz="1400" dirty="0"/>
          </a:p>
        </p:txBody>
      </p:sp>
      <p:sp>
        <p:nvSpPr>
          <p:cNvPr id="32" name="Shape 30"/>
          <p:cNvSpPr/>
          <p:nvPr/>
        </p:nvSpPr>
        <p:spPr>
          <a:xfrm>
            <a:off x="4800600" y="1463040"/>
            <a:ext cx="3931920" cy="475488"/>
          </a:xfrm>
          <a:prstGeom prst="roundRect">
            <a:avLst>
              <a:gd name="adj" fmla="val 13462"/>
            </a:avLst>
          </a:prstGeom>
          <a:solidFill>
            <a:srgbClr val="1E3A50"/>
          </a:solidFill>
          <a:ln/>
        </p:spPr>
      </p:sp>
      <p:sp>
        <p:nvSpPr>
          <p:cNvPr id="33" name="Text 31"/>
          <p:cNvSpPr/>
          <p:nvPr/>
        </p:nvSpPr>
        <p:spPr>
          <a:xfrm>
            <a:off x="4892040" y="1490472"/>
            <a:ext cx="1508760" cy="420624"/>
          </a:xfrm>
          <a:prstGeom prst="rect">
            <a:avLst/>
          </a:prstGeom>
          <a:noFill/>
          <a:ln/>
        </p:spPr>
        <p:txBody>
          <a:bodyPr wrap="square" rtlCol="0" anchor="ctr"/>
          <a:lstStyle/>
          <a:p>
            <a:pPr indent="0" marL="0">
              <a:buNone/>
            </a:pPr>
            <a:r>
              <a:rPr lang="en-US" sz="1100" b="1" dirty="0">
                <a:solidFill>
                  <a:srgbClr val="F59E0B"/>
                </a:solidFill>
              </a:rPr>
              <a:t>Attention Spatiale</a:t>
            </a:r>
            <a:endParaRPr lang="en-US" sz="1100" dirty="0"/>
          </a:p>
        </p:txBody>
      </p:sp>
      <p:sp>
        <p:nvSpPr>
          <p:cNvPr id="34" name="Text 32"/>
          <p:cNvSpPr/>
          <p:nvPr/>
        </p:nvSpPr>
        <p:spPr>
          <a:xfrm>
            <a:off x="6400800" y="1490472"/>
            <a:ext cx="2194560" cy="420624"/>
          </a:xfrm>
          <a:prstGeom prst="rect">
            <a:avLst/>
          </a:prstGeom>
          <a:noFill/>
          <a:ln/>
        </p:spPr>
        <p:txBody>
          <a:bodyPr wrap="square" rtlCol="0" anchor="ctr"/>
          <a:lstStyle/>
          <a:p>
            <a:pPr indent="0" marL="0">
              <a:buNone/>
            </a:pPr>
            <a:r>
              <a:rPr lang="en-US" sz="1000" dirty="0">
                <a:solidFill>
                  <a:srgbClr val="E8F4FD"/>
                </a:solidFill>
              </a:rPr>
              <a:t>Mécanisme self-attention pour pondérer les régions importantes</a:t>
            </a:r>
            <a:endParaRPr lang="en-US" sz="1000" dirty="0"/>
          </a:p>
        </p:txBody>
      </p:sp>
      <p:sp>
        <p:nvSpPr>
          <p:cNvPr id="35" name="Shape 33"/>
          <p:cNvSpPr/>
          <p:nvPr/>
        </p:nvSpPr>
        <p:spPr>
          <a:xfrm>
            <a:off x="4800600" y="2029968"/>
            <a:ext cx="3931920" cy="475488"/>
          </a:xfrm>
          <a:prstGeom prst="roundRect">
            <a:avLst>
              <a:gd name="adj" fmla="val 13462"/>
            </a:avLst>
          </a:prstGeom>
          <a:solidFill>
            <a:srgbClr val="1E3A50"/>
          </a:solidFill>
          <a:ln/>
        </p:spPr>
      </p:sp>
      <p:sp>
        <p:nvSpPr>
          <p:cNvPr id="36" name="Text 34"/>
          <p:cNvSpPr/>
          <p:nvPr/>
        </p:nvSpPr>
        <p:spPr>
          <a:xfrm>
            <a:off x="4892040" y="2057400"/>
            <a:ext cx="1508760" cy="420624"/>
          </a:xfrm>
          <a:prstGeom prst="rect">
            <a:avLst/>
          </a:prstGeom>
          <a:noFill/>
          <a:ln/>
        </p:spPr>
        <p:txBody>
          <a:bodyPr wrap="square" rtlCol="0" anchor="ctr"/>
          <a:lstStyle/>
          <a:p>
            <a:pPr indent="0" marL="0">
              <a:buNone/>
            </a:pPr>
            <a:r>
              <a:rPr lang="en-US" sz="1100" b="1" dirty="0">
                <a:solidFill>
                  <a:srgbClr val="F59E0B"/>
                </a:solidFill>
              </a:rPr>
              <a:t>Multi-Résolution</a:t>
            </a:r>
            <a:endParaRPr lang="en-US" sz="1100" dirty="0"/>
          </a:p>
        </p:txBody>
      </p:sp>
      <p:sp>
        <p:nvSpPr>
          <p:cNvPr id="37" name="Text 35"/>
          <p:cNvSpPr/>
          <p:nvPr/>
        </p:nvSpPr>
        <p:spPr>
          <a:xfrm>
            <a:off x="6400800" y="2057400"/>
            <a:ext cx="2194560" cy="420624"/>
          </a:xfrm>
          <a:prstGeom prst="rect">
            <a:avLst/>
          </a:prstGeom>
          <a:noFill/>
          <a:ln/>
        </p:spPr>
        <p:txBody>
          <a:bodyPr wrap="square" rtlCol="0" anchor="ctr"/>
          <a:lstStyle/>
          <a:p>
            <a:pPr indent="0" marL="0">
              <a:buNone/>
            </a:pPr>
            <a:r>
              <a:rPr lang="en-US" sz="1000" dirty="0">
                <a:solidFill>
                  <a:srgbClr val="E8F4FD"/>
                </a:solidFill>
              </a:rPr>
              <a:t>Entraînement sur plusieurs tailles de patch simultanément</a:t>
            </a:r>
            <a:endParaRPr lang="en-US" sz="1000" dirty="0"/>
          </a:p>
        </p:txBody>
      </p:sp>
      <p:sp>
        <p:nvSpPr>
          <p:cNvPr id="38" name="Shape 36"/>
          <p:cNvSpPr/>
          <p:nvPr/>
        </p:nvSpPr>
        <p:spPr>
          <a:xfrm>
            <a:off x="4800600" y="2596896"/>
            <a:ext cx="3931920" cy="475488"/>
          </a:xfrm>
          <a:prstGeom prst="roundRect">
            <a:avLst>
              <a:gd name="adj" fmla="val 13462"/>
            </a:avLst>
          </a:prstGeom>
          <a:solidFill>
            <a:srgbClr val="1E3A50"/>
          </a:solidFill>
          <a:ln/>
        </p:spPr>
      </p:sp>
      <p:sp>
        <p:nvSpPr>
          <p:cNvPr id="39" name="Text 37"/>
          <p:cNvSpPr/>
          <p:nvPr/>
        </p:nvSpPr>
        <p:spPr>
          <a:xfrm>
            <a:off x="4892040" y="2624328"/>
            <a:ext cx="1508760" cy="420624"/>
          </a:xfrm>
          <a:prstGeom prst="rect">
            <a:avLst/>
          </a:prstGeom>
          <a:noFill/>
          <a:ln/>
        </p:spPr>
        <p:txBody>
          <a:bodyPr wrap="square" rtlCol="0" anchor="ctr"/>
          <a:lstStyle/>
          <a:p>
            <a:pPr indent="0" marL="0">
              <a:buNone/>
            </a:pPr>
            <a:r>
              <a:rPr lang="en-US" sz="1100" b="1" dirty="0">
                <a:solidFill>
                  <a:srgbClr val="F59E0B"/>
                </a:solidFill>
              </a:rPr>
              <a:t>Augmentation</a:t>
            </a:r>
            <a:endParaRPr lang="en-US" sz="1100" dirty="0"/>
          </a:p>
        </p:txBody>
      </p:sp>
      <p:sp>
        <p:nvSpPr>
          <p:cNvPr id="40" name="Text 38"/>
          <p:cNvSpPr/>
          <p:nvPr/>
        </p:nvSpPr>
        <p:spPr>
          <a:xfrm>
            <a:off x="6400800" y="2624328"/>
            <a:ext cx="2194560" cy="420624"/>
          </a:xfrm>
          <a:prstGeom prst="rect">
            <a:avLst/>
          </a:prstGeom>
          <a:noFill/>
          <a:ln/>
        </p:spPr>
        <p:txBody>
          <a:bodyPr wrap="square" rtlCol="0" anchor="ctr"/>
          <a:lstStyle/>
          <a:p>
            <a:pPr indent="0" marL="0">
              <a:buNone/>
            </a:pPr>
            <a:r>
              <a:rPr lang="en-US" sz="1000" dirty="0">
                <a:solidFill>
                  <a:srgbClr val="E8F4FD"/>
                </a:solidFill>
              </a:rPr>
              <a:t>Data augmentation spectrale pour robustesse aux artefacts S3</a:t>
            </a:r>
            <a:endParaRPr lang="en-US" sz="1000" dirty="0"/>
          </a:p>
        </p:txBody>
      </p:sp>
      <p:sp>
        <p:nvSpPr>
          <p:cNvPr id="41" name="Shape 39"/>
          <p:cNvSpPr/>
          <p:nvPr/>
        </p:nvSpPr>
        <p:spPr>
          <a:xfrm>
            <a:off x="4800600" y="3163824"/>
            <a:ext cx="3931920" cy="475488"/>
          </a:xfrm>
          <a:prstGeom prst="roundRect">
            <a:avLst>
              <a:gd name="adj" fmla="val 13462"/>
            </a:avLst>
          </a:prstGeom>
          <a:solidFill>
            <a:srgbClr val="1E3A50"/>
          </a:solidFill>
          <a:ln/>
        </p:spPr>
      </p:sp>
      <p:sp>
        <p:nvSpPr>
          <p:cNvPr id="42" name="Text 40"/>
          <p:cNvSpPr/>
          <p:nvPr/>
        </p:nvSpPr>
        <p:spPr>
          <a:xfrm>
            <a:off x="4892040" y="3191256"/>
            <a:ext cx="1508760" cy="420624"/>
          </a:xfrm>
          <a:prstGeom prst="rect">
            <a:avLst/>
          </a:prstGeom>
          <a:noFill/>
          <a:ln/>
        </p:spPr>
        <p:txBody>
          <a:bodyPr wrap="square" rtlCol="0" anchor="ctr"/>
          <a:lstStyle/>
          <a:p>
            <a:pPr indent="0" marL="0">
              <a:buNone/>
            </a:pPr>
            <a:r>
              <a:rPr lang="en-US" sz="1100" b="1" dirty="0">
                <a:solidFill>
                  <a:srgbClr val="F59E0B"/>
                </a:solidFill>
              </a:rPr>
              <a:t>Export ONNX</a:t>
            </a:r>
            <a:endParaRPr lang="en-US" sz="1100" dirty="0"/>
          </a:p>
        </p:txBody>
      </p:sp>
      <p:sp>
        <p:nvSpPr>
          <p:cNvPr id="43" name="Text 41"/>
          <p:cNvSpPr/>
          <p:nvPr/>
        </p:nvSpPr>
        <p:spPr>
          <a:xfrm>
            <a:off x="6400800" y="3191256"/>
            <a:ext cx="2194560" cy="420624"/>
          </a:xfrm>
          <a:prstGeom prst="rect">
            <a:avLst/>
          </a:prstGeom>
          <a:noFill/>
          <a:ln/>
        </p:spPr>
        <p:txBody>
          <a:bodyPr wrap="square" rtlCol="0" anchor="ctr"/>
          <a:lstStyle/>
          <a:p>
            <a:pPr indent="0" marL="0">
              <a:buNone/>
            </a:pPr>
            <a:r>
              <a:rPr lang="en-US" sz="1000" dirty="0">
                <a:solidFill>
                  <a:srgbClr val="E8F4FD"/>
                </a:solidFill>
              </a:rPr>
              <a:t>Modèle exporté — inférence accélérée sur CPU/GPU embarqué</a:t>
            </a:r>
            <a:endParaRPr lang="en-US" sz="1000" dirty="0"/>
          </a:p>
        </p:txBody>
      </p:sp>
      <p:sp>
        <p:nvSpPr>
          <p:cNvPr id="44" name="Shape 42"/>
          <p:cNvSpPr/>
          <p:nvPr/>
        </p:nvSpPr>
        <p:spPr>
          <a:xfrm>
            <a:off x="4800600" y="3730752"/>
            <a:ext cx="3931920" cy="475488"/>
          </a:xfrm>
          <a:prstGeom prst="roundRect">
            <a:avLst>
              <a:gd name="adj" fmla="val 13462"/>
            </a:avLst>
          </a:prstGeom>
          <a:solidFill>
            <a:srgbClr val="1E3A50"/>
          </a:solidFill>
          <a:ln/>
        </p:spPr>
      </p:sp>
      <p:sp>
        <p:nvSpPr>
          <p:cNvPr id="45" name="Text 43"/>
          <p:cNvSpPr/>
          <p:nvPr/>
        </p:nvSpPr>
        <p:spPr>
          <a:xfrm>
            <a:off x="4892040" y="3758184"/>
            <a:ext cx="1508760" cy="420624"/>
          </a:xfrm>
          <a:prstGeom prst="rect">
            <a:avLst/>
          </a:prstGeom>
          <a:noFill/>
          <a:ln/>
        </p:spPr>
        <p:txBody>
          <a:bodyPr wrap="square" rtlCol="0" anchor="ctr"/>
          <a:lstStyle/>
          <a:p>
            <a:pPr indent="0" marL="0">
              <a:buNone/>
            </a:pPr>
            <a:r>
              <a:rPr lang="en-US" sz="1100" b="1" dirty="0">
                <a:solidFill>
                  <a:srgbClr val="F59E0B"/>
                </a:solidFill>
              </a:rPr>
              <a:t>Validation terrain</a:t>
            </a:r>
            <a:endParaRPr lang="en-US" sz="1100" dirty="0"/>
          </a:p>
        </p:txBody>
      </p:sp>
      <p:sp>
        <p:nvSpPr>
          <p:cNvPr id="46" name="Text 44"/>
          <p:cNvSpPr/>
          <p:nvPr/>
        </p:nvSpPr>
        <p:spPr>
          <a:xfrm>
            <a:off x="6400800" y="3758184"/>
            <a:ext cx="2194560" cy="420624"/>
          </a:xfrm>
          <a:prstGeom prst="rect">
            <a:avLst/>
          </a:prstGeom>
          <a:noFill/>
          <a:ln/>
        </p:spPr>
        <p:txBody>
          <a:bodyPr wrap="square" rtlCol="0" anchor="ctr"/>
          <a:lstStyle/>
          <a:p>
            <a:pPr indent="0" marL="0">
              <a:buNone/>
            </a:pPr>
            <a:r>
              <a:rPr lang="en-US" sz="1000" dirty="0">
                <a:solidFill>
                  <a:srgbClr val="E8F4FD"/>
                </a:solidFill>
              </a:rPr>
              <a:t>Comparaison avec mesures spectroradiométriques réelles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NL-JTAE v3 – Fusion Hyperspectrale S2/S3</dc:title>
  <dc:subject>PptxGenJS Presentation</dc:subject>
  <dc:creator>PptxGenJS</dc:creator>
  <cp:lastModifiedBy>PptxGenJS</cp:lastModifiedBy>
  <cp:revision>1</cp:revision>
  <dcterms:created xsi:type="dcterms:W3CDTF">2026-07-06T11:51:11Z</dcterms:created>
  <dcterms:modified xsi:type="dcterms:W3CDTF">2026-07-06T11:51:11Z</dcterms:modified>
</cp:coreProperties>
</file>