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L'encodeur v2 est compact mais l'AdaptiveAvgPool compresse 240×240 en 16×16 en une seule opération de moyennage, ce qui détruit l'information spatiale haute-fréquence. Le tenseur cœur G a seulement R3=8 composantes spectrales.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décodeur v2 est purement séquentiel. L'Upsample bilinéaire est une interpolation fixe, non apprise. L'absence de skip connections signifie que toute l'information spatiale (240×240) doit être encodée dans le bottleneck 16×16×8, ce qui est physiquement impossible sans perte.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fonction de coût v2 combine supervision directe (terme 1) avec des contraintes physiques (termes 2 et 3) qui garantissent que la reconstruction est cohérente avec les capteurs S2 et S3. Le terme 4 est une régularisation très faible (1e-6) pour la parcimonie du tenseur cœur.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 introduit un downsampling progressif (240→48→16) avec sauvegarde des features intermédiaires. Cela permet au décodeur de récupérer les informations spatiales perdues dans la compression. R3 passe de 8 à 32 pour une meilleure représentation spectrale.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décodeur v3 est symétrique à l'encodeur : deux étapes d'upsampling (×3 puis ×5) avec skip connections injectées à chaque niveau. Le ConvTranspose2d a des poids appris, contrairement à l'interpolation bilinéaire fixe de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L'ajout du terme SAM avec λ=0.1 force le modèle à préserver la forme du spectre, pas seulement l'amplitude pixel à pixel. La formule arccos(dot/norms) est différentiable partout sauf aux points exacts où cos=±1, ce que le clamping à ±1e-7 évite.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décision de v3 répond à un problème diagnostiqué dans v2. L'amélioration n'est pas due à un seul changement mais à la combinaison cohérente des 4 : downsampling progressif + skip connections + ConvTranspose + SAM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NL-JTAE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Joint Tucker AutoEncoder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331720"/>
            <a:ext cx="3657600" cy="27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CC8"/>
                </a:solidFill>
              </a:rPr>
              <a:t>Architecture détaillée · Fonction de coût · Passage v2 →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1546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112233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1546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CC8"/>
                </a:solidFill>
              </a:rPr>
              <a:t>v2  NL-JTAE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318211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C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31546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31546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v3  NL-JTAE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CC8"/>
                </a:solidFill>
              </a:rPr>
              <a:t>Jeu de données : PaviaU (240×240, 103 bandes)  ·  Entrée conjointe S2 (13ch) + S3 (21ch) = 34 canaux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– Encodeur TuckerEncoder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Entrée : (B, 34, 240, 240)   →   Sortie : G = (B, R1=16, R2=16, R3=8)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966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Entrée  (B, 34, 240, 240)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417320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367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init_conv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892808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Conv2d(34→64, 3×3)  +  BN  +  ReLU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54480" y="2075688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258568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95144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InceptionBlock (64 → 64 ch)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54203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</a:rPr>
              <a:t>branch1: Conv 1×1 (64→16)
</a:t>
            </a:r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</a:rPr>
              <a:t>branch2: Conv 1×1 → Conv 3×3 (16→16)
</a:t>
            </a:r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</a:rPr>
              <a:t>branch3: Conv 1×1 → Conv 5×5 (16→16)
</a:t>
            </a:r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</a:rPr>
              <a:t>branch4: MaxPool 3×3 → Conv 1×1 (64→16)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Résiduel : out = init_conv(x) + inception(init_conv(x))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54480" y="3246120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" y="34290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4655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res_conv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0624" y="372160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Conv(64→128) + BN + ReLU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Conv(128→R3=8) + BN + ReLU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54480" y="3977640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" y="41605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19709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AdaptiveAvgPool2d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0624" y="4453128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(240×240) → (R1=16, R2=16)  — 1 seule étape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554480" y="4636008"/>
            <a:ext cx="0" cy="16459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5760" y="4800600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483717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G  (B, 16, 16, 8)  →  permute  →  (B, 8, 16, 16)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63240" y="960120"/>
            <a:ext cx="56692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7832" y="1024128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Détails de chaque couche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1417320"/>
            <a:ext cx="5394960" cy="448056"/>
          </a:xfrm>
          <a:prstGeom prst="roundRect">
            <a:avLst>
              <a:gd name="adj" fmla="val 10204"/>
            </a:avLst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4447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init_conv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64408" y="1618488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Première extraction de caractéristiques. Augmente la profondeur (34→64 ch) tout en gardant la résolution spatiale 240×240.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0" y="1929384"/>
            <a:ext cx="5394960" cy="448056"/>
          </a:xfrm>
          <a:prstGeom prst="roundRect">
            <a:avLst>
              <a:gd name="adj" fmla="val 10204"/>
            </a:avLst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19568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InceptionBlock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2130552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Récepteurs multi-échelles parallèles (1×1, 3×3, 5×5, pool). Concat des 4 branches → 64 ch. Capture des structures à différentes granularités spectrales et spatiales.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2441448"/>
            <a:ext cx="5394960" cy="448056"/>
          </a:xfrm>
          <a:prstGeom prst="roundRect">
            <a:avLst>
              <a:gd name="adj" fmla="val 10204"/>
            </a:avLst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24688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Résiduel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64408" y="2642616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Somme skip : out = init_conv(x) + inception(init_conv(x)). Gradient facile à propager, même sans information nouvelle.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2953512"/>
            <a:ext cx="5394960" cy="448056"/>
          </a:xfrm>
          <a:prstGeom prst="roundRect">
            <a:avLst>
              <a:gd name="adj" fmla="val 10204"/>
            </a:avLst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29809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res_conv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64408" y="3154680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Compression vers R3=8 canaux. Agit comme une projection spectrale apprise vers l'espace Tucker de rang R3.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0" y="3465576"/>
            <a:ext cx="5394960" cy="448056"/>
          </a:xfrm>
          <a:prstGeom prst="roundRect">
            <a:avLst>
              <a:gd name="adj" fmla="val 10204"/>
            </a:avLst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64408" y="34930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AdaptiveAvgPool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64408" y="3666744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⚠ Compression spatiale 240→16 en une seule étape par moyennage global. Détails haute-fréquence irrémédiablement perdus. Pas de feature map intermédiaire sauvegardée.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– Décodeur NonLinearTuckerDecoder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Entrée : G = (B, 16, 16, 8)   →   Sortie : Ŝ = (B, 240, 240, 103)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96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G  (B, 16, 16, 8)  →  permute  →  (B, 8, 16, 16)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344168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1527048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6362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block1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81965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Upsample(×3, bilinear)  →  (B, 8, 48, 48)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Conv2d(8→64, 3×3)  +  BN  +  ReLU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 (B, 64, 48, 48)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54480" y="2185416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368296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4048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block2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2660904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Upsample(×5, bilinear)  →  (B, 64, 240, 240)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Conv2d(64→128, 3×3)  +  BN  +  ReLU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 (B, 128, 240, 240)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54480" y="3026664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3209544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24612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final_conv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3502152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Conv2d(128→103, 3×3)  +  Sigmoid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 (B, 103, 240, 240)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54480" y="3685032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" y="386791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9044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Ŝ  (B, 240, 240, 103)  [permute final]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407408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425696"/>
            <a:ext cx="22311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Aucune skip connection : le décodeur reçoit uniquement G, sans accès aux features intermédiaires de l'encodeur.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63240" y="960120"/>
            <a:ext cx="5669280" cy="3904488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1024128"/>
            <a:ext cx="5340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Analyse du décodeur v2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1435608"/>
            <a:ext cx="5394960" cy="557784"/>
          </a:xfrm>
          <a:prstGeom prst="roundRect">
            <a:avLst>
              <a:gd name="adj" fmla="val 8197"/>
            </a:avLst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1472184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Upsample bilinéaire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64408" y="1664208"/>
            <a:ext cx="5193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Interpolation bicubique ×3 puis ×5 pour retrouver 240×240. Opération mathématique fixe, sans paramètres appris. Le réseau ne peut pas adapter la reconstruction au contenu spectral de G.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2057400"/>
            <a:ext cx="5394960" cy="557784"/>
          </a:xfrm>
          <a:prstGeom prst="roundRect">
            <a:avLst>
              <a:gd name="adj" fmla="val 8197"/>
            </a:avLst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093976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Facteurs ×3 puis ×5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64408" y="2286000"/>
            <a:ext cx="5193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Choix dicté par 16 × 3 = 48 et 48 × 5 = 240. Séquence cohérente avec la résolution cible. Mais les facteurs sont des entiers fixes : pas de flexibilité sur la résolution intermédiaire.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0" y="2679192"/>
            <a:ext cx="5394960" cy="557784"/>
          </a:xfrm>
          <a:prstGeom prst="roundRect">
            <a:avLst>
              <a:gd name="adj" fmla="val 8197"/>
            </a:avLst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715768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Sigmoid finale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2907792"/>
            <a:ext cx="5193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Force les valeurs de réflectance dans [0,1]. Justifié car PaviaU est normalisée dans cet intervalle. La Sigmoid peut saturer si G a des valeurs extrêmes en début d'entraînement.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3300984"/>
            <a:ext cx="5394960" cy="557784"/>
          </a:xfrm>
          <a:prstGeom prst="roundRect">
            <a:avLst>
              <a:gd name="adj" fmla="val 8197"/>
            </a:avLst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337560"/>
            <a:ext cx="5193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Information perdue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64408" y="3529584"/>
            <a:ext cx="5193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⚠ Le décodeur reconstruit 240×240 depuis 16×16 (facteur ×15 total) sans aucune information structurelle sauvegardée dans l'encodeur. Les bords et textures fins sont hallucinations ou lissés.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– Fonction de Coût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4 termes : supervision HSI + contraintes physiques S2 et S3 + régularisation L1 sur le tenseur cœur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 =  λsuper · MSE(Ŝ, S)  +  λS2 · [MSE10m + MSE20m + MSE60m]  +  λS3 · MSES3  +  λsparse · ‖G‖₁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λsuper = 1.0   ·   λS2 = 1.0   ·   λS3 = 1.0   ·   λsparse = 1e-6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08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① λsuper · MSE(Ŝ, 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loss_super = mean((S_pred - S_target)²)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0" y="20116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Perte de reconstruction supervisée pixel-à-pixel. Compare l'image hyperspectrale reconstruite Ŝ (240×240×103) à la vérité terrain S. C'est le terme principal qui guide l'entraînement vers la bonne réflectance.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0" cy="502920"/>
          </a:xfrm>
          <a:prstGeom prst="line">
            <a:avLst/>
          </a:prstGeom>
          <a:noFill/>
          <a:ln w="6350">
            <a:solidFill>
              <a:srgbClr val="0369A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71576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706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② λS2 · [MSE10m + MSE20m + MSE60m]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loss_S2 = MSE(ŷ10m, Y10m) + MSE(P20·ŷ20m, Y20m) + MSE(P60·ŷ60m, Y60m)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0" y="276148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Cohérence avec les observations Sentinel-2 aux résolutions natives. ŷ = Ŝ @ R_S2ᵀ puis dégradation spatiale via PSF P. Force la prédiction à être physiquement cohérente avec les données d'entrée S2.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2807208"/>
            <a:ext cx="0" cy="502920"/>
          </a:xfrm>
          <a:prstGeom prst="line">
            <a:avLst/>
          </a:prstGeom>
          <a:noFill/>
          <a:ln w="6350">
            <a:solidFill>
              <a:srgbClr val="15803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" y="346557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204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③ λS3 · MSE(P·Ŝ·Pᵀ @ R_S3ᵀ,  Y_S3)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581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loss_S3 = mean((P_h·Ŝ_t·P_w @ R_S3ᵀ - Y_S3)²)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351129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Cohérence avec les observations Sentinel-3. Ŝ est dégradé spatialement (240→8 pixels via PSF gaussienne) puis projeté spectralement (103→21 bandes). Force la fidélité spectrale à basse résolution.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43400" y="3557016"/>
            <a:ext cx="0" cy="502920"/>
          </a:xfrm>
          <a:prstGeom prst="line">
            <a:avLst/>
          </a:prstGeom>
          <a:noFill/>
          <a:ln w="6350">
            <a:solidFill>
              <a:srgbClr val="B4530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" y="421538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702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④ λsparse · ‖G‖₁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507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loss_sparse = mean(|G|)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0" y="426110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Régularisation L1 sur le tenseur cœur G (16×16×8). Pousse les coefficients du cœur vers zéro, favorisant une décomposition Tucker parcimonieuse. Réduit le surapprentissage et améliore l'interprétabilité de G.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4306824"/>
            <a:ext cx="0" cy="502920"/>
          </a:xfrm>
          <a:prstGeom prst="line">
            <a:avLst/>
          </a:prstGeom>
          <a:noFill/>
          <a:ln w="6350">
            <a:solidFill>
              <a:srgbClr val="7C3AED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– Encodeur TuckerEncoder  (nouveau)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Entrée : (B, 34, 240, 240)   →   Sortie : G = (B, 16, 16, 32) + feat_240 + feat_48  [skip connections]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96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Entrée  (B, 34, 240, 240)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344168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1527048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6362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init_conv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819656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Conv2d(34→64, 3×3) + BN + ReLU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54480" y="2002536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185416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InceptionBlock (64→64)  +  Résiduel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2478024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[idem v2]  out_240 = init_conv + inception(init_conv)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16352" y="2231136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231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</a:rPr>
              <a:t>SKIP  feat_240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</a:rPr>
              <a:t>(B, 64, 240, 240)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2423160"/>
            <a:ext cx="7315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554480" y="2660904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" y="2843784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CFEFF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88036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down_x5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" y="3136392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MaxPool2d(kernel=5, stride=5)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(B, 64, 240, 240) → (B, 64, 48, 48)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554480" y="3319272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" y="3502152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53872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res_conv_48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" y="3794760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Conv2d(64→128, 3×3) + BN + ReLU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(B, 128, 48, 48)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16352" y="354787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5478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</a:rPr>
              <a:t>SKIP  feat_48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97A7"/>
                </a:solidFill>
              </a:rPr>
              <a:t>(B, 128, 48, 48)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0" y="3739896"/>
            <a:ext cx="7315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554480" y="3977640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5760" y="41605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CFEFF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9709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down_x3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453128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MaxPool2d(kernel=3, stride=3)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(B, 128, 48, 48) → (B, 128, 16, 16)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554480" y="4636008"/>
            <a:ext cx="0" cy="14630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5760" y="4782312"/>
            <a:ext cx="2377440" cy="265176"/>
          </a:xfrm>
          <a:prstGeom prst="roundRect">
            <a:avLst>
              <a:gd name="adj" fmla="val 27586"/>
            </a:avLst>
          </a:prstGeom>
          <a:solidFill>
            <a:srgbClr val="E0F2FE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818888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res_conv_16  :  Conv(128→R3=32) + BN + ReLU  →  G (B, 16, 16, 32)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86200" y="960120"/>
            <a:ext cx="4892040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0792" y="1024128"/>
            <a:ext cx="4562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Changements clés vs v2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23360" y="1435608"/>
            <a:ext cx="4617720" cy="1078992"/>
          </a:xfrm>
          <a:prstGeom prst="roundRect">
            <a:avLst>
              <a:gd name="adj" fmla="val 5932"/>
            </a:avLst>
          </a:prstGeom>
          <a:solidFill>
            <a:srgbClr val="ECFEFF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87368" y="1490472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</a:rPr>
              <a:t>Downsampling explicite en 2 étapes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87368" y="1728216"/>
            <a:ext cx="4416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v2 compressait 240→16 en une seule opération (AdaptiveAvgPool). v3 passe par un palier intermédiaire à 48×48 avec MaxPool ×5 puis ×3. Chaque étape s'accompagne d'une couche convolutive qui extrait des features à cette résolution.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23360" y="2606040"/>
            <a:ext cx="4617720" cy="1078992"/>
          </a:xfrm>
          <a:prstGeom prst="roundRect">
            <a:avLst>
              <a:gd name="adj" fmla="val 5932"/>
            </a:avLst>
          </a:prstGeom>
          <a:solidFill>
            <a:srgbClr val="ECFEFF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87368" y="2660904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</a:rPr>
              <a:t>Feature maps sauvegardées (feat_240, feat_48)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87368" y="2898648"/>
            <a:ext cx="4416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Avant chaque compression, les features intermédiaires sont mémorisées. feat_240 (240×240) préserve les contours et textures fines. feat_48 (48×48) capture des structures à échelle moyenne. Ces tenseurs sont transmis au décodeur.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023360" y="3776472"/>
            <a:ext cx="4617720" cy="1078992"/>
          </a:xfrm>
          <a:prstGeom prst="roundRect">
            <a:avLst>
              <a:gd name="adj" fmla="val 5932"/>
            </a:avLst>
          </a:prstGeom>
          <a:solidFill>
            <a:srgbClr val="E0F2FE"/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87368" y="3831336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R3 = 32 au lieu de 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087368" y="4069080"/>
            <a:ext cx="4416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Le rang spectral du tenseur cœur G passe de 8 à 32. Cela donne au modèle une représentation spectrale 4× plus riche dans le bottleneck 16×16, compensant la plus grande complexité spectrale des 103 bandes à reconstruire.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– Décodeur NonLinearTuckerDecoder  (nouveau)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Entrée : G (B,16,16,32) + feat_48 + feat_240   →   Sortie : Ŝ = (B, 240, 240, 103)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9669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G  (B, 16, 16, 32)  →  permute  →  (B, 32, 16, 16)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68780" y="1307592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1490472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ECFEFF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2704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up_x3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178308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ConvTranspose2d(32→128, kernel=3, stride=3)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(B,32,16,16)  →  (B, 128, 48, 48)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58191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CFE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581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7A7"/>
                </a:solidFill>
              </a:rPr>
              <a:t>feat_48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97A7"/>
                </a:solidFill>
              </a:rPr>
              <a:t>(B,128,48,48)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71800" y="1755648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68780" y="2020824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" y="2203704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24028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Cat + conv_block1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496312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Concat(up_x3, feat_48)  →  (B, 256, 48, 48)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Conv2d(256→128, 3×3)  +  BN  +  ReLU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 (B, 128, 48, 48)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68780" y="2862072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" y="3044952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ECFEFF"/>
          </a:solidFill>
          <a:ln w="1524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08152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up_x5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" y="333756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ConvTranspose2d(128→64, kernel=5, stride=5)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(B,128,48,48)  →  (B, 64, 240, 240)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63240" y="313639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CFE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3136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7A7"/>
                </a:solidFill>
              </a:rPr>
              <a:t>feat_240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97A7"/>
                </a:solidFill>
              </a:rPr>
              <a:t>(B,64,240,240)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71800" y="3310128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68780" y="3575304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" y="3758184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79476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Cat + conv_block2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" y="4050792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Concat(up_x5, feat_240)  →  (B, 128, 240, 240)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Conv2d(128→64, 3×3)  +  BN  +  ReLU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 (B, 64, 240, 240)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68780" y="4416552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5760" y="4599432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636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final_conv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892040"/>
            <a:ext cx="2496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Conv2d(64→103, 3×3)  +  Sigmoid  →  (B, 103, 240, 240)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86200" y="960120"/>
            <a:ext cx="4892040" cy="4096512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0792" y="1024128"/>
            <a:ext cx="4562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ConvTranspose + Skip Connections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1435608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87368" y="1481328"/>
            <a:ext cx="4416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</a:rPr>
              <a:t>ConvTranspose2d vs Upsample bilinéaire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87368" y="1691640"/>
            <a:ext cx="4416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ConvTranspose2d possède des poids apprenables (kernel 3×3 et 5×5). Au lieu d'une interpolation mathématique fixe, le modèle apprend quelle information étaler spatialement. Cela permet de reconstruire des détails fins que le bilinéaire lisse systématiquement.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023360" y="2350008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87368" y="2395728"/>
            <a:ext cx="4416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</a:rPr>
              <a:t>Skip Connections — mécanisme UNet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87368" y="2606040"/>
            <a:ext cx="4416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Après chaque ConvTranspose, les features de l'encodeur à la même résolution sont concaténées (Cat). Le décodeur fusionne: (1) ce qu'il a reconstruit depuis G, et (2) ce que l'encodeur a vu directement à cette résolution. C'est la même idée que UNet pour la segmentation.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23360" y="3264408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87368" y="3310128"/>
            <a:ext cx="4416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Pourquoi Cat et non Add?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87368" y="3520440"/>
            <a:ext cx="4416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La concaténation double les canaux (ex: 128+128=256) puis les recompresse par Conv. Contrairement à l'addition qui impose d'avoir les mêmes dimensions, Cat laisse au réseau la liberté de combiner ou ignorer les features de l'encodeur selon le contexte.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4178808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87368" y="4224528"/>
            <a:ext cx="4416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Réduction de canaux finale (128→64→103)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087368" y="4434840"/>
            <a:ext cx="44165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conv_block2 réduit 128→64 avant la projection spectrale finale 64→103. Cette étape de compression évite que la convolution finale ait trop de canaux en entrée, limitant le surapprentissage sur la dernière couche.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– Fonction de Coût  (+  SAM Loss)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 termes : idem v2 + pénalisation directe de la distorsion spectrale via SAM différentiable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24128"/>
          </a:xfrm>
          <a:prstGeom prst="roundRect">
            <a:avLst>
              <a:gd name="adj" fmla="val 8929"/>
            </a:avLst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 =  λsuper · MSE(Ŝ, S)  +  λsam · SAM(Ŝ, S)  +  λS2 · [MSE10m + MSE20m + MSE60m]  +  λS3 · MSES3  +  λsparse · ‖G‖₁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78608" y="1005840"/>
            <a:ext cx="2286000" cy="384048"/>
          </a:xfrm>
          <a:prstGeom prst="roundRect">
            <a:avLst>
              <a:gd name="adj" fmla="val 9524"/>
            </a:avLst>
          </a:prstGeom>
          <a:solidFill>
            <a:srgbClr val="0D2137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264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λsuper = 1.0   ·   λsam = 0.1   ·   λS2 = 1.0   ·   λS3 = 1.0   ·   λsparse = 1e-6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78608" y="13990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NOUVEAU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1508760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76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② Nouveau : λsam · SAM(Ŝ, S)  —  Perte d'Angle Spectral Différentiable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3931920" cy="685800"/>
          </a:xfrm>
          <a:prstGeom prst="roundRect">
            <a:avLst>
              <a:gd name="adj" fmla="val 9333"/>
            </a:avLst>
          </a:prstGeom>
          <a:solidFill>
            <a:srgbClr val="0D213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SAM(Ŝ, S) = mean_pixels [ arccos( Ŝₚ · Sₚ / (‖Ŝₚ‖₂ · ‖Sₚ‖₂) )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Ŝₚ, Sₚ ∈ ℝ¹⁰³  vecteur spectral du pixel 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0" y="253288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Pourquoi SAM et pas uniquement MSE ?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MSE minimise l'erreur quadratique en amplitude → favorise des prédictions moyennées qui minimisent le risque quadratique mais distordent la forme du spectre.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SAM mesure l'angle entre deux vecteurs spectraux : une erreur SAM nulle signifie que la forme du spectre est parfaite, indépendamment de l'amplitude. La combinaison MSE+SAM force le modèle à préserver à la fois l'amplitude (MSE) et la forme spectrale (SAM).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Termes ①③④⑤ — inchangés par rapport à v2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96512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DBEAFE"/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14223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① MSE(Ŝ, 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44348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Supervision HSI  ·  λ=1.0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87168" y="4096512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14223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③ MSE S2 multi-résolution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4348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10m + 20m + 60m  ·  λ=1.0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08576" y="4096512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EF3C7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414223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④ MSE S3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1728" y="44348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Dégradation spatiale+spectrale  ·  λ=1.0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9984" y="4096512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3E8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14223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⑤ ‖G‖₁  Sparsité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03136" y="44348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Régularisation tenseur cœur  ·  λ=1e-6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passer de v2 à v3 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CC8"/>
                </a:solidFill>
              </a:rPr>
              <a:t>4 diagnostics de v2 · 4 solutions apportées par v3 · Impact sur les métriques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42416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0D2137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097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97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0972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AdaptiveAvgPool : perte spatiale brutale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28930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La compression 240×240→16×16 en une seule opération de moyennage détruit irrémédiablement les hautes fréquences (bords, textures). Le décodeur doit les « inventer » sans aucun ancrage.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06240" y="1152144"/>
            <a:ext cx="0" cy="676656"/>
          </a:xfrm>
          <a:prstGeom prst="line">
            <a:avLst/>
          </a:prstGeom>
          <a:noFill/>
          <a:ln w="10160">
            <a:solidFill>
              <a:srgbClr val="1E3A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297680" y="1097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097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44568" y="1097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Downsampling progressif ×5 puis ×3 avec extraction de features à chaque palier. Skip connections qui transmettent feat_240 et feat_48 au décodeur.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44568" y="135331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</a:rPr>
              <a:t>Le décodeur accède à des features non-compressées aux résolutions 240 et 48.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44968" y="1298448"/>
            <a:ext cx="987552" cy="475488"/>
          </a:xfrm>
          <a:prstGeom prst="roundRect">
            <a:avLst>
              <a:gd name="adj" fmla="val 11538"/>
            </a:avLst>
          </a:prstGeom>
          <a:solidFill>
            <a:srgbClr val="0D332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029968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0D213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" y="20848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20848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Upsample bilinéaire : reconstruction non-adaptative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227685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L'interpolation bilinéaire est une opération mathématique fixe. Le réseau ne peut pas apprendre à « halluciner » intelligemment les détails en fonction du contenu spectral du tenseur cœur 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06240" y="2139696"/>
            <a:ext cx="0" cy="676656"/>
          </a:xfrm>
          <a:prstGeom prst="line">
            <a:avLst/>
          </a:prstGeom>
          <a:noFill/>
          <a:ln w="10160">
            <a:solidFill>
              <a:srgbClr val="1E3A5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297680" y="20848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44568" y="2084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ConvTranspose2d avec des poids apprenables. Le réseau apprend quel motif spatial correspond à chaque composante spectrale de G.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44568" y="234086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</a:rPr>
              <a:t>Meilleure reconstruction des bords et structures fines. Le PSNR passe de 25.9 à 40.6 dB.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44968" y="2286000"/>
            <a:ext cx="987552" cy="475488"/>
          </a:xfrm>
          <a:prstGeom prst="roundRect">
            <a:avLst>
              <a:gd name="adj" fmla="val 11538"/>
            </a:avLst>
          </a:prstGeom>
          <a:solidFill>
            <a:srgbClr val="0D332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01752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0D2137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307238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MSE seule : biais vers la moyenne spectrale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" y="326440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Minimiser MSE pixel-à-pixel pousse le modèle vers des prédictions qui moyennent les spectres plausibles. La forme du spectre (pic de chlorophylle, absorption eau) peut être distordue même avec un bon MSE.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06240" y="3127248"/>
            <a:ext cx="0" cy="676656"/>
          </a:xfrm>
          <a:prstGeom prst="line">
            <a:avLst/>
          </a:prstGeom>
          <a:noFill/>
          <a:ln w="10160">
            <a:solidFill>
              <a:srgbClr val="1E3A5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297680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44568" y="3072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Ajout de la SAM Loss (λ=0.1) qui pénalise explicitement l'angle entre spectres prédits et spectres réels. Complémentaire au MSE.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44568" y="332841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</a:rPr>
              <a:t>SAM réduit de 5.37° à 1.55° (−71%). Fidélité spectrale drastiquement améliorée.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44968" y="3273552"/>
            <a:ext cx="987552" cy="475488"/>
          </a:xfrm>
          <a:prstGeom prst="roundRect">
            <a:avLst>
              <a:gd name="adj" fmla="val 11538"/>
            </a:avLst>
          </a:prstGeom>
          <a:solidFill>
            <a:srgbClr val="0D3320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" y="4005072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0D2137"/>
          </a:solidFill>
          <a:ln/>
        </p:spPr>
      </p:sp>
      <p:sp>
        <p:nvSpPr>
          <p:cNvPr id="38" name="Shape 36"/>
          <p:cNvSpPr/>
          <p:nvPr/>
        </p:nvSpPr>
        <p:spPr>
          <a:xfrm>
            <a:off x="384048" y="40599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" y="40599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R3 = 8 : représentation spectrale insuffisante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" y="42519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CC8"/>
                </a:solidFill>
              </a:rPr>
              <a:t>Le tenseur cœur G a seulement 8 composantes spectrales pour encoder 103 bandes. Ce bottleneck spectral étroit contraint la richesse de l'espace latent Tucker et limite la capacité de discrimination spectrale.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06240" y="4114800"/>
            <a:ext cx="0" cy="676656"/>
          </a:xfrm>
          <a:prstGeom prst="line">
            <a:avLst/>
          </a:prstGeom>
          <a:noFill/>
          <a:ln w="10160">
            <a:solidFill>
              <a:srgbClr val="1E3A5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297680" y="40599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44568" y="4059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R3 augmenté de 8 à 32. L'espace de représentation Tucker est 4× plus riche. Compense la plus grande dimension spectrale de sortie.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44568" y="431596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</a:rPr>
              <a:t>En combinaison avec les skips, l'ERGAS chute de 5.30 à 0.148 (−97%).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744968" y="4261104"/>
            <a:ext cx="987552" cy="475488"/>
          </a:xfrm>
          <a:prstGeom prst="roundRect">
            <a:avLst>
              <a:gd name="adj" fmla="val 11538"/>
            </a:avLst>
          </a:prstGeom>
          <a:solidFill>
            <a:srgbClr val="0D3320"/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" y="4919472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919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Résultat global  v2→v3  :   PSNR  25.9 → 40.6 dB  (+14.7)   ·   SAM  5.37° → 1.55° (−71%)   ·   ERGAS  5.30 → 0.148 (−97%)   ·   SSIM  0.986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NL-JTAE – Architecture v2 vs v3</dc:title>
  <dc:subject>PptxGenJS Presentation</dc:subject>
  <dc:creator>PptxGenJS</dc:creator>
  <cp:lastModifiedBy>PptxGenJS</cp:lastModifiedBy>
  <cp:revision>1</cp:revision>
  <dcterms:created xsi:type="dcterms:W3CDTF">2026-07-06T12:05:03Z</dcterms:created>
  <dcterms:modified xsi:type="dcterms:W3CDTF">2026-07-06T12:05:03Z</dcterms:modified>
</cp:coreProperties>
</file>